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Robot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2F7DCC-7057-4AC5-B088-AFC40367BCAE}">
  <a:tblStyle styleId="{042F7DCC-7057-4AC5-B088-AFC40367BC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20" Type="http://schemas.openxmlformats.org/officeDocument/2006/relationships/slide" Target="slides/slide15.xml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Robot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mentimeter.com/app/presentation/alk3w8y4wc8r7biuftfgfhfv6qyqeeeu/edit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mentimeter.com/app/presentation/alk3w8y4wc8r7biuftfgfhfv6qyqeeeu/edit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mentimeter.com/app/presentation/alk3w8y4wc8r7biuftfgfhfv6qyqeeeu/edit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mentimeter.com/app/presentation/alk3w8y4wc8r7biuftfgfhfv6qyqeeeu/edit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4098a5170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4098a5170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40962418a61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40962418a61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200"/>
              <a:buChar char="-"/>
            </a:pPr>
            <a:r>
              <a:rPr lang="de" sz="1600" u="sng">
                <a:solidFill>
                  <a:srgbClr val="FF5A5A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&gt; Mentimeter</a:t>
            </a:r>
            <a:endParaRPr sz="1200">
              <a:solidFill>
                <a:srgbClr val="000080"/>
              </a:solidFill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200"/>
              <a:buChar char="-"/>
            </a:pPr>
            <a:r>
              <a:rPr lang="de" sz="1200">
                <a:solidFill>
                  <a:srgbClr val="000080"/>
                </a:solidFill>
              </a:rPr>
              <a:t>Word-Cloud (When you hear OHDSI, what comes to mind? or similar question) </a:t>
            </a:r>
            <a:endParaRPr sz="1200">
              <a:solidFill>
                <a:srgbClr val="000080"/>
              </a:solidFill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200"/>
              <a:buChar char="-"/>
            </a:pPr>
            <a:r>
              <a:rPr lang="de" sz="1200">
                <a:solidFill>
                  <a:srgbClr val="000080"/>
                </a:solidFill>
              </a:rPr>
              <a:t>Also: there is a Q&amp;A open throughout the session, if you have any questions please just paste them in the chat anytime so we can answer them at the end of the session</a:t>
            </a:r>
            <a:endParaRPr sz="1200">
              <a:solidFill>
                <a:srgbClr val="00008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4098530063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4098530063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200"/>
              <a:buChar char="-"/>
            </a:pPr>
            <a:r>
              <a:rPr lang="de" sz="1200">
                <a:solidFill>
                  <a:srgbClr val="000080"/>
                </a:solidFill>
              </a:rPr>
              <a:t>Word-Cloud (When you hear OHDSI, what comes to mind? or similar question) </a:t>
            </a:r>
            <a:endParaRPr sz="1200">
              <a:solidFill>
                <a:srgbClr val="000080"/>
              </a:solidFill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200"/>
              <a:buChar char="-"/>
            </a:pPr>
            <a:r>
              <a:t/>
            </a:r>
            <a:endParaRPr sz="1200">
              <a:solidFill>
                <a:srgbClr val="00008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4098530063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4098530063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200"/>
              <a:buChar char="-"/>
            </a:pPr>
            <a:r>
              <a:rPr lang="de" sz="1200">
                <a:solidFill>
                  <a:srgbClr val="000080"/>
                </a:solidFill>
              </a:rPr>
              <a:t>Word-Cloud (When you hear OHDSI, what comes to mind? or similar question)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40962418a61_1_1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40962418a61_1_1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40962418a61_0_1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40962418a61_0_1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0962418a61_0_1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0962418a61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4097af6834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4097af6834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Char char="-"/>
            </a:pPr>
            <a:r>
              <a:rPr b="1" lang="de" sz="1600">
                <a:solidFill>
                  <a:srgbClr val="000080"/>
                </a:solidFill>
              </a:rPr>
              <a:t>…not harmonized</a:t>
            </a:r>
            <a:r>
              <a:rPr lang="de" sz="1600">
                <a:solidFill>
                  <a:srgbClr val="000080"/>
                </a:solidFill>
              </a:rPr>
              <a:t>: inconsistent formats, structures, and clinical classification prevent analysis across sources</a:t>
            </a:r>
            <a:endParaRPr sz="1600">
              <a:solidFill>
                <a:srgbClr val="000080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Char char="-"/>
            </a:pPr>
            <a:r>
              <a:rPr b="1" lang="de" sz="1600">
                <a:solidFill>
                  <a:srgbClr val="000080"/>
                </a:solidFill>
              </a:rPr>
              <a:t>…locked in silos</a:t>
            </a:r>
            <a:r>
              <a:rPr lang="de" sz="1600">
                <a:solidFill>
                  <a:srgbClr val="000080"/>
                </a:solidFill>
              </a:rPr>
              <a:t>: storage in isolated systems that don't interoperate</a:t>
            </a:r>
            <a:endParaRPr sz="1600">
              <a:solidFill>
                <a:srgbClr val="000080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Char char="-"/>
            </a:pPr>
            <a:r>
              <a:rPr b="1" lang="de" sz="1600">
                <a:solidFill>
                  <a:srgbClr val="000080"/>
                </a:solidFill>
              </a:rPr>
              <a:t>…hard to share:</a:t>
            </a:r>
            <a:r>
              <a:rPr lang="de" sz="1600">
                <a:solidFill>
                  <a:srgbClr val="000080"/>
                </a:solidFill>
              </a:rPr>
              <a:t> privacy, legal, and governance constraints keep data from being pooled</a:t>
            </a:r>
            <a:endParaRPr sz="1600">
              <a:solidFill>
                <a:srgbClr val="00008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40962418a61_1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40962418a61_1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The Universal Power Adapter Analogy → different power outlets - your laptop is a device with the same needs (power) but can’t plug in everywhere without adapter </a:t>
            </a:r>
            <a:r>
              <a:rPr lang="de">
                <a:solidFill>
                  <a:schemeClr val="dk1"/>
                </a:solidFill>
              </a:rPr>
              <a:t>/ healthcare data has exactly the same problem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Every hospital has its own outlet (stores data in different format) → study diabetes across 10 hospitals, neeeds to run 10 different queries → OBSERVATIONAL MEDICAL OUTCOMES PARTNERSHIP CDM is agreement to install same type of outlet everywhere / single, standaradized </a:t>
            </a:r>
            <a:r>
              <a:rPr lang="de"/>
              <a:t>structure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40962418a61_0_1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40962418a61_0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40962418a61_1_1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40962418a61_1_1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40962418a61_0_1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40962418a61_0_1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40962418a61_1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40962418a61_1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4098db5a4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4098db5a4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https://www.ohdsi-europe.org/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4098d230ee4_0_2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4098d230ee4_0_2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engage in the community?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Add: July 7 showcasing atlas 3.0 in the OHDSI Global Community Call 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Working group: THEMIS background → the idea of the Data Quality Dashboard emerged from this working group; they are advancing the best practices, 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4098d230ee4_0_2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4098d230ee4_0_2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essentially doing the groundwork of standardizing health data at scale.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5 year funded → transitioned to the EHDEN Foundation to sustain legacy &amp; infrastructure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On demand training and development programmes developed by OHDSI and the EHDEN community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So the rough sequence is: OHDSI/OMOP builds the standard → EHDEN harmonizes European data to that standard at scale → DARWIN EU leverages that harmonized, federated infrastructure for medicines regulation.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Which is also why the connection I mentioned in the slides holds up: EHDEN data partners were among the first to join DARWIN EU — because their data was already OMOP-ready.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4098530063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4098530063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Italy &gt; great </a:t>
            </a:r>
            <a:r>
              <a:rPr lang="de">
                <a:solidFill>
                  <a:schemeClr val="dk1"/>
                </a:solidFill>
              </a:rPr>
              <a:t>britain</a:t>
            </a:r>
            <a:r>
              <a:rPr lang="de">
                <a:solidFill>
                  <a:schemeClr val="dk1"/>
                </a:solidFill>
              </a:rPr>
              <a:t> &gt; spain: highest representation of data sources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4097af6834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4097af6834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de" sz="1200">
                <a:solidFill>
                  <a:schemeClr val="dk1"/>
                </a:solidFill>
                <a:highlight>
                  <a:srgbClr val="FFFFFF"/>
                </a:highlight>
              </a:rPr>
              <a:t>Service provider: (Erasmus University Medical Center Rotterdam) → as of 2024 fully operational</a:t>
            </a:r>
            <a:endParaRPr/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Char char="●"/>
            </a:pPr>
            <a:r>
              <a:rPr lang="de" sz="1400">
                <a:solidFill>
                  <a:srgbClr val="000080"/>
                </a:solidFill>
                <a:highlight>
                  <a:schemeClr val="lt1"/>
                </a:highlight>
              </a:rPr>
              <a:t>Data stays local and is analyzed locally, with only aggregated results shared </a:t>
            </a:r>
            <a:endParaRPr sz="1400">
              <a:solidFill>
                <a:srgbClr val="000080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Char char="●"/>
            </a:pPr>
            <a:r>
              <a:rPr lang="de" sz="1400">
                <a:solidFill>
                  <a:srgbClr val="000080"/>
                </a:solidFill>
                <a:highlight>
                  <a:schemeClr val="lt1"/>
                </a:highlight>
              </a:rPr>
              <a:t>Privacy-by-design approach enabling large, multi-database studies across Europe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Patients providing data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studies delivered since 2022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data partners as of 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409915c0ed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409915c0ed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This is OHDSI in one image.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Every dot on this map is a collaborator: 4,751 of them, across 88 countries, 6 continents, 21 time zones. And the thing I love about this slide is that last bullet: 1 community. That's kind of the whole point.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What brings all these dots together is a shared mission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409915c0ed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409915c0ed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409915c0ed9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409915c0ed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4098db5a48f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4098db5a48f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Char char="-"/>
            </a:pPr>
            <a:r>
              <a:rPr b="1" lang="de" sz="1600">
                <a:solidFill>
                  <a:srgbClr val="000080"/>
                </a:solidFill>
              </a:rPr>
              <a:t>…not harmonized</a:t>
            </a:r>
            <a:r>
              <a:rPr lang="de" sz="1600">
                <a:solidFill>
                  <a:srgbClr val="000080"/>
                </a:solidFill>
              </a:rPr>
              <a:t>: inconsistent formats, structures, and clinical classification prevent analysis across sources</a:t>
            </a:r>
            <a:endParaRPr sz="1600">
              <a:solidFill>
                <a:srgbClr val="000080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Char char="-"/>
            </a:pPr>
            <a:r>
              <a:rPr b="1" lang="de" sz="1600">
                <a:solidFill>
                  <a:srgbClr val="000080"/>
                </a:solidFill>
              </a:rPr>
              <a:t>…locked in silos</a:t>
            </a:r>
            <a:r>
              <a:rPr lang="de" sz="1600">
                <a:solidFill>
                  <a:srgbClr val="000080"/>
                </a:solidFill>
              </a:rPr>
              <a:t>: storage in isolated systems that don't interoperate</a:t>
            </a:r>
            <a:endParaRPr sz="1600">
              <a:solidFill>
                <a:srgbClr val="000080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600"/>
              <a:buChar char="-"/>
            </a:pPr>
            <a:r>
              <a:rPr b="1" lang="de" sz="1600">
                <a:solidFill>
                  <a:srgbClr val="000080"/>
                </a:solidFill>
              </a:rPr>
              <a:t>…hard to share:</a:t>
            </a:r>
            <a:r>
              <a:rPr lang="de" sz="1600">
                <a:solidFill>
                  <a:srgbClr val="000080"/>
                </a:solidFill>
              </a:rPr>
              <a:t> privacy, legal, and governance constraints keep data from being pooled</a:t>
            </a:r>
            <a:endParaRPr sz="1600">
              <a:solidFill>
                <a:srgbClr val="00008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40962418a61_0_1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40962418a61_0_1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40962418a61_0_1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40962418a61_0_1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4098530063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4098530063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40962418a61_0_1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OHDSI Symposium Finland</a:t>
            </a:r>
            <a:endParaRPr/>
          </a:p>
        </p:txBody>
      </p:sp>
      <p:sp>
        <p:nvSpPr>
          <p:cNvPr id="617" name="Google Shape;617;g40962418a61_0_1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40962418a61_1_1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40962418a61_1_1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4098a517073_1_4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4098a517073_1_4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 u="sng">
                <a:solidFill>
                  <a:srgbClr val="FF5A5A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&gt; Mentimeter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4098d230ee4_0_2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4098d230ee4_0_2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 u="sng">
                <a:solidFill>
                  <a:srgbClr val="FF5A5A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&gt; Mentimeter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40962418a61_1_1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40962418a61_1_1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 u="sng">
                <a:solidFill>
                  <a:srgbClr val="FF5A5A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&gt; Mentimeter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40987f12b0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40987f12b0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4098d230ee4_0_2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4098d230ee4_0_2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timely and reliable real-world evidence on the use, safety, effectiveness of medicines drawing from real world healthcare databases across Europe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/>
              <a:t>federated network: data stays local and is analyzed locally by data partners only with aggregated results shared, a privacy-by-design approach that enables large, multi-database studies across Europe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">
  <p:cSld name="Titelfolie">
    <p:bg>
      <p:bgPr>
        <a:solidFill>
          <a:schemeClr val="accent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type="ctrTitle"/>
          </p:nvPr>
        </p:nvSpPr>
        <p:spPr>
          <a:xfrm>
            <a:off x="305526" y="1113238"/>
            <a:ext cx="56163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orgia"/>
              <a:buNone/>
              <a:defRPr i="0" sz="4000"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" type="subTitle"/>
          </p:nvPr>
        </p:nvSpPr>
        <p:spPr>
          <a:xfrm>
            <a:off x="305526" y="2409460"/>
            <a:ext cx="5616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sz="2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pic>
        <p:nvPicPr>
          <p:cNvPr id="26" name="Google Shape;2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65225" y="303050"/>
            <a:ext cx="1473674" cy="1179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055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text - white">
  <p:cSld name="Titel und Inhalt_Text S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idx="1" type="body"/>
          </p:nvPr>
        </p:nvSpPr>
        <p:spPr>
          <a:xfrm>
            <a:off x="305525" y="1113250"/>
            <a:ext cx="8532000" cy="3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pic>
        <p:nvPicPr>
          <p:cNvPr id="30" name="Google Shape;3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33109" y="227713"/>
            <a:ext cx="704405" cy="56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text - grey">
  <p:cSld name="Agenda_1_2_2_1">
    <p:bg>
      <p:bgPr>
        <a:solidFill>
          <a:srgbClr val="EFEFE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305825" y="1113175"/>
            <a:ext cx="85320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text - light blue">
  <p:cSld name="Agenda_1_2">
    <p:bg>
      <p:bgPr>
        <a:solidFill>
          <a:srgbClr val="EBF2FB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305825" y="1113175"/>
            <a:ext cx="85320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38" name="Google Shape;38;p5"/>
          <p:cNvSpPr txBox="1"/>
          <p:nvPr>
            <p:ph idx="2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left - blue">
  <p:cSld name="Agenda_2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0" y="0"/>
            <a:ext cx="2511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3006325" y="1113250"/>
            <a:ext cx="58317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42" name="Google Shape;42;p6"/>
          <p:cNvSpPr txBox="1"/>
          <p:nvPr>
            <p:ph type="title"/>
          </p:nvPr>
        </p:nvSpPr>
        <p:spPr>
          <a:xfrm>
            <a:off x="306000" y="303533"/>
            <a:ext cx="2016000" cy="13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None/>
              <a:defRPr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3" name="Google Shape;4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left - grey">
  <p:cSld name="Agenda_2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0" y="0"/>
            <a:ext cx="2511000" cy="514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type="title"/>
          </p:nvPr>
        </p:nvSpPr>
        <p:spPr>
          <a:xfrm>
            <a:off x="306000" y="303526"/>
            <a:ext cx="2016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006325" y="1113250"/>
            <a:ext cx="58317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2" type="subTitle"/>
          </p:nvPr>
        </p:nvSpPr>
        <p:spPr>
          <a:xfrm>
            <a:off x="305525" y="1448325"/>
            <a:ext cx="2016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left - light blue">
  <p:cSld name="Agenda_2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/>
          <p:nvPr/>
        </p:nvSpPr>
        <p:spPr>
          <a:xfrm>
            <a:off x="0" y="0"/>
            <a:ext cx="2511000" cy="51435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type="title"/>
          </p:nvPr>
        </p:nvSpPr>
        <p:spPr>
          <a:xfrm>
            <a:off x="306000" y="303526"/>
            <a:ext cx="2016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3006325" y="1113250"/>
            <a:ext cx="58317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55" name="Google Shape;55;p8"/>
          <p:cNvSpPr txBox="1"/>
          <p:nvPr>
            <p:ph idx="2" type="subTitle"/>
          </p:nvPr>
        </p:nvSpPr>
        <p:spPr>
          <a:xfrm>
            <a:off x="305525" y="1448325"/>
            <a:ext cx="2016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left - white on grey">
  <p:cSld name="Agenda_2_1_2">
    <p:bg>
      <p:bgPr>
        <a:solidFill>
          <a:srgbClr val="EFEFE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/>
          <p:nvPr/>
        </p:nvSpPr>
        <p:spPr>
          <a:xfrm>
            <a:off x="0" y="0"/>
            <a:ext cx="2518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9"/>
          <p:cNvSpPr txBox="1"/>
          <p:nvPr>
            <p:ph type="title"/>
          </p:nvPr>
        </p:nvSpPr>
        <p:spPr>
          <a:xfrm>
            <a:off x="306000" y="303526"/>
            <a:ext cx="2016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006325" y="1113250"/>
            <a:ext cx="58317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61" name="Google Shape;61;p9"/>
          <p:cNvSpPr txBox="1"/>
          <p:nvPr>
            <p:ph idx="2" type="subTitle"/>
          </p:nvPr>
        </p:nvSpPr>
        <p:spPr>
          <a:xfrm>
            <a:off x="305525" y="1448325"/>
            <a:ext cx="2016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left - white on grey">
  <p:cSld name="Agenda_2_1_2_1_1">
    <p:bg>
      <p:bgPr>
        <a:solidFill>
          <a:srgbClr val="EBF2FB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0" y="0"/>
            <a:ext cx="2518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0"/>
          <p:cNvSpPr txBox="1"/>
          <p:nvPr>
            <p:ph type="title"/>
          </p:nvPr>
        </p:nvSpPr>
        <p:spPr>
          <a:xfrm>
            <a:off x="306000" y="303526"/>
            <a:ext cx="2016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3006325" y="1113250"/>
            <a:ext cx="58317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67" name="Google Shape;67;p10"/>
          <p:cNvSpPr txBox="1"/>
          <p:nvPr>
            <p:ph idx="2" type="subTitle"/>
          </p:nvPr>
        </p:nvSpPr>
        <p:spPr>
          <a:xfrm>
            <a:off x="305525" y="1448325"/>
            <a:ext cx="2016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left - blue">
  <p:cSld name="Agenda_2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/>
          <p:nvPr/>
        </p:nvSpPr>
        <p:spPr>
          <a:xfrm>
            <a:off x="0" y="0"/>
            <a:ext cx="30063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306000" y="487850"/>
            <a:ext cx="24756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2" type="body"/>
          </p:nvPr>
        </p:nvSpPr>
        <p:spPr>
          <a:xfrm>
            <a:off x="3221825" y="487850"/>
            <a:ext cx="56163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left - grey">
  <p:cSld name="Agenda_2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/>
          <p:nvPr/>
        </p:nvSpPr>
        <p:spPr>
          <a:xfrm>
            <a:off x="0" y="0"/>
            <a:ext cx="3006300" cy="514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>
            <a:off x="306000" y="487850"/>
            <a:ext cx="24756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9pPr>
          </a:lstStyle>
          <a:p/>
        </p:txBody>
      </p:sp>
      <p:sp>
        <p:nvSpPr>
          <p:cNvPr id="76" name="Google Shape;76;p12"/>
          <p:cNvSpPr txBox="1"/>
          <p:nvPr>
            <p:ph idx="2" type="body"/>
          </p:nvPr>
        </p:nvSpPr>
        <p:spPr>
          <a:xfrm>
            <a:off x="3221825" y="487850"/>
            <a:ext cx="56163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pic>
        <p:nvPicPr>
          <p:cNvPr id="77" name="Google Shape;7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left - light blue">
  <p:cSld name="Agenda_2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/>
          <p:nvPr/>
        </p:nvSpPr>
        <p:spPr>
          <a:xfrm>
            <a:off x="0" y="0"/>
            <a:ext cx="3006300" cy="51435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306000" y="487850"/>
            <a:ext cx="24756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9pPr>
          </a:lstStyle>
          <a:p/>
        </p:txBody>
      </p:sp>
      <p:sp>
        <p:nvSpPr>
          <p:cNvPr id="82" name="Google Shape;82;p13"/>
          <p:cNvSpPr txBox="1"/>
          <p:nvPr>
            <p:ph idx="2" type="body"/>
          </p:nvPr>
        </p:nvSpPr>
        <p:spPr>
          <a:xfrm>
            <a:off x="3221825" y="487850"/>
            <a:ext cx="56163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right - blue">
  <p:cSld name="CUSTOM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/>
        </p:nvSpPr>
        <p:spPr>
          <a:xfrm>
            <a:off x="-80950" y="-3225"/>
            <a:ext cx="6732000" cy="517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568475" y="4690965"/>
            <a:ext cx="270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87" name="Google Shape;87;p14"/>
          <p:cNvSpPr txBox="1"/>
          <p:nvPr>
            <p:ph idx="1" type="body"/>
          </p:nvPr>
        </p:nvSpPr>
        <p:spPr>
          <a:xfrm>
            <a:off x="305825" y="1113175"/>
            <a:ext cx="5832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88" name="Google Shape;88;p14"/>
          <p:cNvSpPr txBox="1"/>
          <p:nvPr>
            <p:ph idx="2" type="body"/>
          </p:nvPr>
        </p:nvSpPr>
        <p:spPr>
          <a:xfrm>
            <a:off x="6880500" y="1113250"/>
            <a:ext cx="19575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4"/>
          <p:cNvSpPr txBox="1"/>
          <p:nvPr>
            <p:ph type="title"/>
          </p:nvPr>
        </p:nvSpPr>
        <p:spPr>
          <a:xfrm>
            <a:off x="305525" y="303525"/>
            <a:ext cx="58323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de" sz="800">
                <a:solidFill>
                  <a:srgbClr val="000E7E"/>
                </a:solidFill>
              </a:rPr>
              <a:t>6</a:t>
            </a: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rgbClr val="000E7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right - grey">
  <p:cSld name="Agenda_2">
    <p:bg>
      <p:bgPr>
        <a:solidFill>
          <a:srgbClr val="EFEFE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/>
          <p:nvPr/>
        </p:nvSpPr>
        <p:spPr>
          <a:xfrm flipH="1">
            <a:off x="0" y="0"/>
            <a:ext cx="6633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305825" y="1113175"/>
            <a:ext cx="5832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95" name="Google Shape;95;p15"/>
          <p:cNvSpPr txBox="1"/>
          <p:nvPr>
            <p:ph idx="2" type="body"/>
          </p:nvPr>
        </p:nvSpPr>
        <p:spPr>
          <a:xfrm>
            <a:off x="6880500" y="1113250"/>
            <a:ext cx="19575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9pPr>
          </a:lstStyle>
          <a:p/>
        </p:txBody>
      </p:sp>
      <p:sp>
        <p:nvSpPr>
          <p:cNvPr id="96" name="Google Shape;96;p15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de" sz="800">
                <a:solidFill>
                  <a:srgbClr val="000E7E"/>
                </a:solidFill>
              </a:rPr>
              <a:t>6</a:t>
            </a: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rgbClr val="000E7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 txBox="1"/>
          <p:nvPr>
            <p:ph type="title"/>
          </p:nvPr>
        </p:nvSpPr>
        <p:spPr>
          <a:xfrm>
            <a:off x="305525" y="303525"/>
            <a:ext cx="58323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i="0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right - light blue">
  <p:cSld name="Agenda_2_2">
    <p:bg>
      <p:bgPr>
        <a:solidFill>
          <a:srgbClr val="EBF2F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 flipH="1">
            <a:off x="0" y="0"/>
            <a:ext cx="6633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de" sz="800">
                <a:solidFill>
                  <a:srgbClr val="000E7E"/>
                </a:solidFill>
              </a:rPr>
              <a:t>6</a:t>
            </a: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rgbClr val="000E7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 txBox="1"/>
          <p:nvPr>
            <p:ph type="title"/>
          </p:nvPr>
        </p:nvSpPr>
        <p:spPr>
          <a:xfrm>
            <a:off x="305525" y="303525"/>
            <a:ext cx="58323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i="0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305825" y="1113175"/>
            <a:ext cx="5832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04" name="Google Shape;104;p16"/>
          <p:cNvSpPr txBox="1"/>
          <p:nvPr>
            <p:ph idx="2" type="body"/>
          </p:nvPr>
        </p:nvSpPr>
        <p:spPr>
          <a:xfrm>
            <a:off x="6880500" y="1113250"/>
            <a:ext cx="19575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- grey">
  <p:cSld name="Agenda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7"/>
          <p:cNvSpPr txBox="1"/>
          <p:nvPr>
            <p:ph type="title"/>
          </p:nvPr>
        </p:nvSpPr>
        <p:spPr>
          <a:xfrm>
            <a:off x="305525" y="303525"/>
            <a:ext cx="41583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pic>
        <p:nvPicPr>
          <p:cNvPr id="108" name="Google Shape;10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© 20</a:t>
            </a:r>
            <a:r>
              <a:rPr lang="de" sz="800">
                <a:solidFill>
                  <a:srgbClr val="000E7E"/>
                </a:solidFill>
              </a:rPr>
              <a:t>26</a:t>
            </a: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rgbClr val="000E7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05525" y="1113250"/>
            <a:ext cx="4158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11" name="Google Shape;111;p17"/>
          <p:cNvSpPr txBox="1"/>
          <p:nvPr>
            <p:ph idx="2" type="body"/>
          </p:nvPr>
        </p:nvSpPr>
        <p:spPr>
          <a:xfrm>
            <a:off x="4680350" y="1113250"/>
            <a:ext cx="4158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12" name="Google Shape;112;p17"/>
          <p:cNvSpPr txBox="1"/>
          <p:nvPr>
            <p:ph idx="3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- light blue">
  <p:cSld name="Agenda_1_3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305525" y="303525"/>
            <a:ext cx="41583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pic>
        <p:nvPicPr>
          <p:cNvPr id="116" name="Google Shape;11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de" sz="800">
                <a:solidFill>
                  <a:srgbClr val="000E7E"/>
                </a:solidFill>
              </a:rPr>
              <a:t>6</a:t>
            </a: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rgbClr val="000E7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305525" y="1113250"/>
            <a:ext cx="4158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19" name="Google Shape;119;p18"/>
          <p:cNvSpPr txBox="1"/>
          <p:nvPr>
            <p:ph idx="2" type="body"/>
          </p:nvPr>
        </p:nvSpPr>
        <p:spPr>
          <a:xfrm>
            <a:off x="4680350" y="1113250"/>
            <a:ext cx="4158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20" name="Google Shape;120;p18"/>
          <p:cNvSpPr txBox="1"/>
          <p:nvPr>
            <p:ph idx="3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top - blue">
  <p:cSld name="CUSTOM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/>
          <p:nvPr/>
        </p:nvSpPr>
        <p:spPr>
          <a:xfrm>
            <a:off x="0" y="0"/>
            <a:ext cx="9144000" cy="111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9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None/>
              <a:defRPr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306000" y="1428450"/>
            <a:ext cx="8532000" cy="3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top - grey">
  <p:cSld name="CUSTOM_1_2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/>
        </p:nvSpPr>
        <p:spPr>
          <a:xfrm>
            <a:off x="0" y="0"/>
            <a:ext cx="9144000" cy="1112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0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306000" y="1428450"/>
            <a:ext cx="8532000" cy="3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29" name="Google Shape;129;p20"/>
          <p:cNvSpPr txBox="1"/>
          <p:nvPr>
            <p:ph idx="2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highlight top - light blue">
  <p:cSld name="CUSTOM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/>
          <p:nvPr/>
        </p:nvSpPr>
        <p:spPr>
          <a:xfrm>
            <a:off x="0" y="0"/>
            <a:ext cx="9144000" cy="11121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1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06000" y="1428450"/>
            <a:ext cx="8532000" cy="3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34" name="Google Shape;134;p21"/>
          <p:cNvSpPr txBox="1"/>
          <p:nvPr>
            <p:ph idx="2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Zwei Inhalte_Text 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05525" y="1113225"/>
            <a:ext cx="4158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38" name="Google Shape;138;p22"/>
          <p:cNvSpPr txBox="1"/>
          <p:nvPr>
            <p:ph idx="2" type="body"/>
          </p:nvPr>
        </p:nvSpPr>
        <p:spPr>
          <a:xfrm>
            <a:off x="4680000" y="1113250"/>
            <a:ext cx="4158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header">
  <p:cSld name="Zwei Inhalte_Text S_3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060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42" name="Google Shape;142;p23"/>
          <p:cNvSpPr txBox="1"/>
          <p:nvPr>
            <p:ph idx="2" type="body"/>
          </p:nvPr>
        </p:nvSpPr>
        <p:spPr>
          <a:xfrm>
            <a:off x="46803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43" name="Google Shape;143;p23"/>
          <p:cNvSpPr txBox="1"/>
          <p:nvPr>
            <p:ph idx="3" type="subTitle"/>
          </p:nvPr>
        </p:nvSpPr>
        <p:spPr>
          <a:xfrm>
            <a:off x="305525" y="1113250"/>
            <a:ext cx="4157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23"/>
          <p:cNvSpPr txBox="1"/>
          <p:nvPr>
            <p:ph idx="4" type="subTitle"/>
          </p:nvPr>
        </p:nvSpPr>
        <p:spPr>
          <a:xfrm>
            <a:off x="4680300" y="1113250"/>
            <a:ext cx="4157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image">
  <p:cSld name="CUSTOM_2_1_1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/>
          <p:nvPr>
            <p:ph idx="2" type="pic"/>
          </p:nvPr>
        </p:nvSpPr>
        <p:spPr>
          <a:xfrm>
            <a:off x="4693500" y="1122750"/>
            <a:ext cx="4158000" cy="35112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05525" y="1113225"/>
            <a:ext cx="4158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48" name="Google Shape;148;p24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Zwei Inhalte_Text S_4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05525" y="1113225"/>
            <a:ext cx="27009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52" name="Google Shape;152;p25"/>
          <p:cNvSpPr txBox="1"/>
          <p:nvPr>
            <p:ph idx="2" type="body"/>
          </p:nvPr>
        </p:nvSpPr>
        <p:spPr>
          <a:xfrm>
            <a:off x="3221825" y="1113250"/>
            <a:ext cx="27009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53" name="Google Shape;153;p25"/>
          <p:cNvSpPr txBox="1"/>
          <p:nvPr>
            <p:ph idx="3" type="body"/>
          </p:nvPr>
        </p:nvSpPr>
        <p:spPr>
          <a:xfrm>
            <a:off x="6138125" y="1113250"/>
            <a:ext cx="27009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header">
  <p:cSld name="Zwei Inhalte_Text S_3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05825" y="1647675"/>
            <a:ext cx="27006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57" name="Google Shape;157;p26"/>
          <p:cNvSpPr txBox="1"/>
          <p:nvPr>
            <p:ph idx="2" type="body"/>
          </p:nvPr>
        </p:nvSpPr>
        <p:spPr>
          <a:xfrm>
            <a:off x="3221825" y="1647675"/>
            <a:ext cx="27006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58" name="Google Shape;158;p26"/>
          <p:cNvSpPr txBox="1"/>
          <p:nvPr>
            <p:ph idx="3" type="body"/>
          </p:nvPr>
        </p:nvSpPr>
        <p:spPr>
          <a:xfrm>
            <a:off x="6137850" y="1647675"/>
            <a:ext cx="27006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59" name="Google Shape;159;p26"/>
          <p:cNvSpPr txBox="1"/>
          <p:nvPr>
            <p:ph idx="4" type="subTitle"/>
          </p:nvPr>
        </p:nvSpPr>
        <p:spPr>
          <a:xfrm>
            <a:off x="305525" y="1113250"/>
            <a:ext cx="2700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26"/>
          <p:cNvSpPr txBox="1"/>
          <p:nvPr>
            <p:ph idx="5" type="subTitle"/>
          </p:nvPr>
        </p:nvSpPr>
        <p:spPr>
          <a:xfrm>
            <a:off x="3221825" y="1113250"/>
            <a:ext cx="2700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6"/>
          <p:cNvSpPr txBox="1"/>
          <p:nvPr>
            <p:ph idx="6" type="subTitle"/>
          </p:nvPr>
        </p:nvSpPr>
        <p:spPr>
          <a:xfrm>
            <a:off x="6138125" y="1113250"/>
            <a:ext cx="2700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b="0" sz="12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62" name="Google Shape;162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33109" y="227713"/>
            <a:ext cx="704405" cy="56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image">
  <p:cSld name="CUSTOM_2_1_1_1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/>
          <p:nvPr>
            <p:ph idx="2" type="pic"/>
          </p:nvPr>
        </p:nvSpPr>
        <p:spPr>
          <a:xfrm>
            <a:off x="319500" y="1122750"/>
            <a:ext cx="8532000" cy="35112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27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page image">
  <p:cSld name="CUSTOM_2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pic>
        <p:nvPicPr>
          <p:cNvPr id="168" name="Google Shape;16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33109" y="227713"/>
            <a:ext cx="704405" cy="56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>
  <p:cSld name="Abschnitt"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05990" y="1113238"/>
            <a:ext cx="58317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/>
              <a:buNone/>
              <a:defRPr sz="4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71" name="Google Shape;171;p29"/>
          <p:cNvSpPr txBox="1"/>
          <p:nvPr>
            <p:ph idx="12" type="sldNum"/>
          </p:nvPr>
        </p:nvSpPr>
        <p:spPr>
          <a:xfrm>
            <a:off x="8568475" y="4690965"/>
            <a:ext cx="270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72" name="Google Shape;172;p29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de" sz="800">
                <a:solidFill>
                  <a:schemeClr val="lt1"/>
                </a:solidFill>
              </a:rPr>
              <a:t>6</a:t>
            </a:r>
            <a:r>
              <a:rPr b="0" i="0" lang="de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with number">
  <p:cSld name="Abschnitt mit Zahl">
    <p:bg>
      <p:bgPr>
        <a:solidFill>
          <a:schemeClr val="dk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05990" y="1113238"/>
            <a:ext cx="58317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/>
              <a:buNone/>
              <a:defRPr sz="4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06025" y="195600"/>
            <a:ext cx="82956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b="0" sz="6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b="0" sz="6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b="0" sz="6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b="0" sz="6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b="0" sz="6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b="0" sz="6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b="0" sz="6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8568475" y="4690965"/>
            <a:ext cx="270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77" name="Google Shape;177;p30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de" sz="800">
                <a:solidFill>
                  <a:schemeClr val="lt1"/>
                </a:solidFill>
              </a:rPr>
              <a:t>6</a:t>
            </a:r>
            <a:r>
              <a:rPr b="0" i="0" lang="de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art Text - blue">
  <p:cSld name="CUSTOM_6_1_1">
    <p:bg>
      <p:bgPr>
        <a:solidFill>
          <a:srgbClr val="EBF2FB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" name="Google Shape;179;p31"/>
          <p:cNvCxnSpPr/>
          <p:nvPr/>
        </p:nvCxnSpPr>
        <p:spPr>
          <a:xfrm>
            <a:off x="4572000" y="1089750"/>
            <a:ext cx="0" cy="3540000"/>
          </a:xfrm>
          <a:prstGeom prst="straightConnector1">
            <a:avLst/>
          </a:prstGeom>
          <a:noFill/>
          <a:ln cap="flat" cmpd="sng" w="9525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31"/>
          <p:cNvSpPr txBox="1"/>
          <p:nvPr>
            <p:ph type="title"/>
          </p:nvPr>
        </p:nvSpPr>
        <p:spPr>
          <a:xfrm>
            <a:off x="306000" y="1113250"/>
            <a:ext cx="4157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31"/>
          <p:cNvSpPr txBox="1"/>
          <p:nvPr>
            <p:ph idx="2" type="title"/>
          </p:nvPr>
        </p:nvSpPr>
        <p:spPr>
          <a:xfrm>
            <a:off x="4680350" y="1113250"/>
            <a:ext cx="4157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060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83" name="Google Shape;183;p31"/>
          <p:cNvSpPr txBox="1"/>
          <p:nvPr>
            <p:ph idx="3" type="body"/>
          </p:nvPr>
        </p:nvSpPr>
        <p:spPr>
          <a:xfrm>
            <a:off x="46803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art Text - grey">
  <p:cSld name="CUSTOM_6">
    <p:bg>
      <p:bgPr>
        <a:solidFill>
          <a:srgbClr val="EFEFE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306000" y="1113250"/>
            <a:ext cx="4157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86" name="Google Shape;186;p32"/>
          <p:cNvCxnSpPr/>
          <p:nvPr/>
        </p:nvCxnSpPr>
        <p:spPr>
          <a:xfrm>
            <a:off x="4572000" y="1089750"/>
            <a:ext cx="0" cy="3540000"/>
          </a:xfrm>
          <a:prstGeom prst="straightConnector1">
            <a:avLst/>
          </a:prstGeom>
          <a:noFill/>
          <a:ln cap="flat" cmpd="sng" w="9525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32"/>
          <p:cNvSpPr txBox="1"/>
          <p:nvPr>
            <p:ph idx="2" type="title"/>
          </p:nvPr>
        </p:nvSpPr>
        <p:spPr>
          <a:xfrm>
            <a:off x="4680350" y="1113250"/>
            <a:ext cx="4157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eorgia"/>
              <a:buNone/>
              <a:defRPr sz="2400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060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189" name="Google Shape;189;p32"/>
          <p:cNvSpPr txBox="1"/>
          <p:nvPr>
            <p:ph idx="3" type="body"/>
          </p:nvPr>
        </p:nvSpPr>
        <p:spPr>
          <a:xfrm>
            <a:off x="4680300" y="1647675"/>
            <a:ext cx="4157700" cy="29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Puzzle - Large">
  <p:cSld name="CUSTOM_2"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92" name="Google Shape;192;p33"/>
          <p:cNvSpPr/>
          <p:nvPr/>
        </p:nvSpPr>
        <p:spPr>
          <a:xfrm rot="5400000">
            <a:off x="4952150" y="741925"/>
            <a:ext cx="3501900" cy="4260900"/>
          </a:xfrm>
          <a:prstGeom prst="round2SameRect">
            <a:avLst>
              <a:gd fmla="val 3741" name="adj1"/>
              <a:gd fmla="val 0" name="adj2"/>
            </a:avLst>
          </a:prstGeom>
          <a:solidFill>
            <a:srgbClr val="FEEF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3"/>
          <p:cNvSpPr/>
          <p:nvPr/>
        </p:nvSpPr>
        <p:spPr>
          <a:xfrm rot="-5400000">
            <a:off x="691350" y="749725"/>
            <a:ext cx="3508200" cy="4251900"/>
          </a:xfrm>
          <a:prstGeom prst="round2SameRect">
            <a:avLst>
              <a:gd fmla="val 3996" name="adj1"/>
              <a:gd fmla="val 0" name="adj2"/>
            </a:avLst>
          </a:prstGeom>
          <a:solidFill>
            <a:srgbClr val="CDE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8100" y="1245888"/>
            <a:ext cx="7607798" cy="325297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3"/>
          <p:cNvSpPr/>
          <p:nvPr/>
        </p:nvSpPr>
        <p:spPr>
          <a:xfrm>
            <a:off x="1575775" y="2468015"/>
            <a:ext cx="129600" cy="110100"/>
          </a:xfrm>
          <a:prstGeom prst="rect">
            <a:avLst/>
          </a:prstGeom>
          <a:solidFill>
            <a:srgbClr val="CDE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numbered">
  <p:cSld name="CUSTOM_5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98" name="Google Shape;198;p34"/>
          <p:cNvSpPr/>
          <p:nvPr/>
        </p:nvSpPr>
        <p:spPr>
          <a:xfrm>
            <a:off x="306000" y="1280950"/>
            <a:ext cx="2384400" cy="33432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2354900" y="1113250"/>
            <a:ext cx="651600" cy="653400"/>
          </a:xfrm>
          <a:prstGeom prst="ellipse">
            <a:avLst/>
          </a:prstGeom>
          <a:solidFill>
            <a:srgbClr val="FF5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/>
          <p:nvPr/>
        </p:nvSpPr>
        <p:spPr>
          <a:xfrm>
            <a:off x="3221275" y="1280950"/>
            <a:ext cx="2384400" cy="33432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4"/>
          <p:cNvSpPr/>
          <p:nvPr/>
        </p:nvSpPr>
        <p:spPr>
          <a:xfrm>
            <a:off x="5270175" y="1113250"/>
            <a:ext cx="651600" cy="653400"/>
          </a:xfrm>
          <a:prstGeom prst="ellipse">
            <a:avLst/>
          </a:prstGeom>
          <a:solidFill>
            <a:srgbClr val="FF5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4"/>
          <p:cNvSpPr/>
          <p:nvPr/>
        </p:nvSpPr>
        <p:spPr>
          <a:xfrm>
            <a:off x="6136550" y="1280950"/>
            <a:ext cx="2384400" cy="33432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8185450" y="1113250"/>
            <a:ext cx="651600" cy="653400"/>
          </a:xfrm>
          <a:prstGeom prst="ellipse">
            <a:avLst/>
          </a:prstGeom>
          <a:solidFill>
            <a:srgbClr val="FF5F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de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top with icons - grey">
  <p:cSld name="CUSTOM_4_3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/>
          <p:nvPr/>
        </p:nvSpPr>
        <p:spPr>
          <a:xfrm>
            <a:off x="50" y="0"/>
            <a:ext cx="9144000" cy="191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EFEFE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5"/>
          <p:cNvSpPr/>
          <p:nvPr/>
        </p:nvSpPr>
        <p:spPr>
          <a:xfrm>
            <a:off x="777575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5"/>
          <p:cNvSpPr/>
          <p:nvPr/>
        </p:nvSpPr>
        <p:spPr>
          <a:xfrm>
            <a:off x="3001942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5"/>
          <p:cNvSpPr/>
          <p:nvPr/>
        </p:nvSpPr>
        <p:spPr>
          <a:xfrm>
            <a:off x="5226308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5"/>
          <p:cNvSpPr/>
          <p:nvPr/>
        </p:nvSpPr>
        <p:spPr>
          <a:xfrm>
            <a:off x="7450675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5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11" name="Google Shape;211;p35"/>
          <p:cNvSpPr txBox="1"/>
          <p:nvPr>
            <p:ph idx="1" type="body"/>
          </p:nvPr>
        </p:nvSpPr>
        <p:spPr>
          <a:xfrm>
            <a:off x="305525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12" name="Google Shape;212;p35"/>
          <p:cNvSpPr txBox="1"/>
          <p:nvPr>
            <p:ph idx="2" type="body"/>
          </p:nvPr>
        </p:nvSpPr>
        <p:spPr>
          <a:xfrm>
            <a:off x="2531291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13" name="Google Shape;213;p35"/>
          <p:cNvSpPr txBox="1"/>
          <p:nvPr>
            <p:ph idx="3" type="body"/>
          </p:nvPr>
        </p:nvSpPr>
        <p:spPr>
          <a:xfrm>
            <a:off x="4757044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14" name="Google Shape;214;p35"/>
          <p:cNvSpPr txBox="1"/>
          <p:nvPr>
            <p:ph idx="4" type="body"/>
          </p:nvPr>
        </p:nvSpPr>
        <p:spPr>
          <a:xfrm>
            <a:off x="6978622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15" name="Google Shape;215;p35"/>
          <p:cNvSpPr txBox="1"/>
          <p:nvPr>
            <p:ph idx="5" type="subTitle"/>
          </p:nvPr>
        </p:nvSpPr>
        <p:spPr>
          <a:xfrm>
            <a:off x="306050" y="787338"/>
            <a:ext cx="85320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16" name="Google Shape;216;p35"/>
          <p:cNvSpPr txBox="1"/>
          <p:nvPr>
            <p:ph idx="6" type="subTitle"/>
          </p:nvPr>
        </p:nvSpPr>
        <p:spPr>
          <a:xfrm>
            <a:off x="2529892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17" name="Google Shape;217;p35"/>
          <p:cNvSpPr txBox="1"/>
          <p:nvPr>
            <p:ph idx="7" type="subTitle"/>
          </p:nvPr>
        </p:nvSpPr>
        <p:spPr>
          <a:xfrm>
            <a:off x="305525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18" name="Google Shape;218;p35"/>
          <p:cNvSpPr txBox="1"/>
          <p:nvPr>
            <p:ph idx="8" type="subTitle"/>
          </p:nvPr>
        </p:nvSpPr>
        <p:spPr>
          <a:xfrm>
            <a:off x="4754258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19" name="Google Shape;219;p35"/>
          <p:cNvSpPr txBox="1"/>
          <p:nvPr>
            <p:ph idx="9" type="subTitle"/>
          </p:nvPr>
        </p:nvSpPr>
        <p:spPr>
          <a:xfrm>
            <a:off x="6978625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top with icons - light blue">
  <p:cSld name="CUSTOM_4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/>
          <p:nvPr/>
        </p:nvSpPr>
        <p:spPr>
          <a:xfrm>
            <a:off x="50" y="0"/>
            <a:ext cx="9144000" cy="19116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777575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BF2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3001942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BF2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5226308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BF2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7450675" y="1341851"/>
            <a:ext cx="915300" cy="9153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BF2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305525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28" name="Google Shape;228;p36"/>
          <p:cNvSpPr txBox="1"/>
          <p:nvPr>
            <p:ph idx="2" type="body"/>
          </p:nvPr>
        </p:nvSpPr>
        <p:spPr>
          <a:xfrm>
            <a:off x="2531291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29" name="Google Shape;229;p36"/>
          <p:cNvSpPr txBox="1"/>
          <p:nvPr>
            <p:ph idx="3" type="body"/>
          </p:nvPr>
        </p:nvSpPr>
        <p:spPr>
          <a:xfrm>
            <a:off x="4757044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30" name="Google Shape;230;p36"/>
          <p:cNvSpPr txBox="1"/>
          <p:nvPr>
            <p:ph idx="4" type="body"/>
          </p:nvPr>
        </p:nvSpPr>
        <p:spPr>
          <a:xfrm>
            <a:off x="6978622" y="2804650"/>
            <a:ext cx="18594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31" name="Google Shape;231;p36"/>
          <p:cNvSpPr txBox="1"/>
          <p:nvPr>
            <p:ph idx="5" type="subTitle"/>
          </p:nvPr>
        </p:nvSpPr>
        <p:spPr>
          <a:xfrm>
            <a:off x="305750" y="787350"/>
            <a:ext cx="8532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32" name="Google Shape;232;p36"/>
          <p:cNvSpPr txBox="1"/>
          <p:nvPr>
            <p:ph idx="6" type="subTitle"/>
          </p:nvPr>
        </p:nvSpPr>
        <p:spPr>
          <a:xfrm>
            <a:off x="2529892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33" name="Google Shape;233;p36"/>
          <p:cNvSpPr txBox="1"/>
          <p:nvPr>
            <p:ph idx="7" type="subTitle"/>
          </p:nvPr>
        </p:nvSpPr>
        <p:spPr>
          <a:xfrm>
            <a:off x="305525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34" name="Google Shape;234;p36"/>
          <p:cNvSpPr txBox="1"/>
          <p:nvPr>
            <p:ph idx="8" type="subTitle"/>
          </p:nvPr>
        </p:nvSpPr>
        <p:spPr>
          <a:xfrm>
            <a:off x="4754258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35" name="Google Shape;235;p36"/>
          <p:cNvSpPr txBox="1"/>
          <p:nvPr>
            <p:ph idx="9" type="subTitle"/>
          </p:nvPr>
        </p:nvSpPr>
        <p:spPr>
          <a:xfrm>
            <a:off x="6978625" y="2362450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with icons">
  <p:cSld name="CUSTOM_7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38" name="Google Shape;238;p37"/>
          <p:cNvSpPr/>
          <p:nvPr/>
        </p:nvSpPr>
        <p:spPr>
          <a:xfrm>
            <a:off x="515225" y="1113250"/>
            <a:ext cx="1440000" cy="1440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7"/>
          <p:cNvSpPr/>
          <p:nvPr/>
        </p:nvSpPr>
        <p:spPr>
          <a:xfrm>
            <a:off x="2739592" y="1113250"/>
            <a:ext cx="1440000" cy="1440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/>
          <p:nvPr/>
        </p:nvSpPr>
        <p:spPr>
          <a:xfrm>
            <a:off x="4963958" y="1113250"/>
            <a:ext cx="1440000" cy="1440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7"/>
          <p:cNvSpPr/>
          <p:nvPr/>
        </p:nvSpPr>
        <p:spPr>
          <a:xfrm>
            <a:off x="7188325" y="1113250"/>
            <a:ext cx="1440000" cy="1440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7"/>
          <p:cNvSpPr txBox="1"/>
          <p:nvPr>
            <p:ph idx="1" type="body"/>
          </p:nvPr>
        </p:nvSpPr>
        <p:spPr>
          <a:xfrm>
            <a:off x="305525" y="3220638"/>
            <a:ext cx="18594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43" name="Google Shape;243;p37"/>
          <p:cNvSpPr txBox="1"/>
          <p:nvPr>
            <p:ph idx="2" type="body"/>
          </p:nvPr>
        </p:nvSpPr>
        <p:spPr>
          <a:xfrm>
            <a:off x="2531292" y="3220638"/>
            <a:ext cx="18594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44" name="Google Shape;244;p37"/>
          <p:cNvSpPr txBox="1"/>
          <p:nvPr>
            <p:ph idx="3" type="body"/>
          </p:nvPr>
        </p:nvSpPr>
        <p:spPr>
          <a:xfrm>
            <a:off x="4757046" y="3220638"/>
            <a:ext cx="18594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45" name="Google Shape;245;p37"/>
          <p:cNvSpPr txBox="1"/>
          <p:nvPr>
            <p:ph idx="4" type="body"/>
          </p:nvPr>
        </p:nvSpPr>
        <p:spPr>
          <a:xfrm>
            <a:off x="6978625" y="3220638"/>
            <a:ext cx="18594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46" name="Google Shape;246;p37"/>
          <p:cNvSpPr txBox="1"/>
          <p:nvPr>
            <p:ph idx="5" type="subTitle"/>
          </p:nvPr>
        </p:nvSpPr>
        <p:spPr>
          <a:xfrm>
            <a:off x="2529892" y="2652475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47" name="Google Shape;247;p37"/>
          <p:cNvSpPr txBox="1"/>
          <p:nvPr>
            <p:ph idx="6" type="subTitle"/>
          </p:nvPr>
        </p:nvSpPr>
        <p:spPr>
          <a:xfrm>
            <a:off x="305525" y="2652475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48" name="Google Shape;248;p37"/>
          <p:cNvSpPr txBox="1"/>
          <p:nvPr>
            <p:ph idx="7" type="subTitle"/>
          </p:nvPr>
        </p:nvSpPr>
        <p:spPr>
          <a:xfrm>
            <a:off x="4754258" y="2652475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  <p:sp>
        <p:nvSpPr>
          <p:cNvPr id="249" name="Google Shape;249;p37"/>
          <p:cNvSpPr txBox="1"/>
          <p:nvPr>
            <p:ph idx="8" type="subTitle"/>
          </p:nvPr>
        </p:nvSpPr>
        <p:spPr>
          <a:xfrm>
            <a:off x="6978625" y="2652475"/>
            <a:ext cx="1859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s">
  <p:cSld name="Kontakt">
    <p:bg>
      <p:bgPr>
        <a:solidFill>
          <a:schemeClr val="accent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8"/>
          <p:cNvSpPr txBox="1"/>
          <p:nvPr>
            <p:ph type="ctrTitle"/>
          </p:nvPr>
        </p:nvSpPr>
        <p:spPr>
          <a:xfrm>
            <a:off x="305526" y="1113588"/>
            <a:ext cx="56163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Georgia"/>
              <a:buNone/>
              <a:defRPr i="0" sz="4100"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52" name="Google Shape;252;p38"/>
          <p:cNvSpPr txBox="1"/>
          <p:nvPr>
            <p:ph idx="1" type="body"/>
          </p:nvPr>
        </p:nvSpPr>
        <p:spPr>
          <a:xfrm>
            <a:off x="305225" y="2464196"/>
            <a:ext cx="27012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53" name="Google Shape;253;p38"/>
          <p:cNvSpPr txBox="1"/>
          <p:nvPr>
            <p:ph idx="2" type="body"/>
          </p:nvPr>
        </p:nvSpPr>
        <p:spPr>
          <a:xfrm>
            <a:off x="3221500" y="2463761"/>
            <a:ext cx="27012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54" name="Google Shape;254;p38"/>
          <p:cNvSpPr txBox="1"/>
          <p:nvPr>
            <p:ph idx="3" type="body"/>
          </p:nvPr>
        </p:nvSpPr>
        <p:spPr>
          <a:xfrm>
            <a:off x="6137675" y="2463325"/>
            <a:ext cx="27012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55" name="Google Shape;255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65225" y="303050"/>
            <a:ext cx="1473674" cy="1179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Kontakt_1">
    <p:bg>
      <p:bgPr>
        <a:solidFill>
          <a:schemeClr val="accent2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65225" y="303050"/>
            <a:ext cx="1473674" cy="117936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9"/>
          <p:cNvSpPr txBox="1"/>
          <p:nvPr/>
        </p:nvSpPr>
        <p:spPr>
          <a:xfrm>
            <a:off x="306000" y="1113250"/>
            <a:ext cx="5616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de" sz="5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Thank You.</a:t>
            </a:r>
            <a:endParaRPr b="0" i="0" sz="50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text - brown">
  <p:cSld name="Agenda_1_2_2">
    <p:bg>
      <p:bgPr>
        <a:solidFill>
          <a:schemeClr val="accent2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61" name="Google Shape;261;p40"/>
          <p:cNvSpPr txBox="1"/>
          <p:nvPr>
            <p:ph idx="1" type="body"/>
          </p:nvPr>
        </p:nvSpPr>
        <p:spPr>
          <a:xfrm>
            <a:off x="305825" y="1113175"/>
            <a:ext cx="85320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62" name="Google Shape;262;p40"/>
          <p:cNvSpPr txBox="1"/>
          <p:nvPr>
            <p:ph idx="2" type="subTitle"/>
          </p:nvPr>
        </p:nvSpPr>
        <p:spPr>
          <a:xfrm>
            <a:off x="305525" y="674807"/>
            <a:ext cx="56166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- Style - 2 (Blue)">
  <p:cSld name="Agenda_2_1_1_1_2_1">
    <p:bg>
      <p:bgPr>
        <a:solidFill>
          <a:schemeClr val="dk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/>
          <p:nvPr/>
        </p:nvSpPr>
        <p:spPr>
          <a:xfrm>
            <a:off x="0" y="0"/>
            <a:ext cx="2511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65" name="Google Shape;265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6389" y="4858687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1"/>
          <p:cNvSpPr txBox="1"/>
          <p:nvPr/>
        </p:nvSpPr>
        <p:spPr>
          <a:xfrm>
            <a:off x="4017599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lt1"/>
                </a:solidFill>
              </a:rPr>
              <a:t>© 2026 D4L data4life gGmbH. All rights reserved.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7" name="Google Shape;267;p41"/>
          <p:cNvSpPr txBox="1"/>
          <p:nvPr>
            <p:ph type="title"/>
          </p:nvPr>
        </p:nvSpPr>
        <p:spPr>
          <a:xfrm>
            <a:off x="247500" y="303533"/>
            <a:ext cx="2016000" cy="13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8" name="Google Shape;268;p41"/>
          <p:cNvSpPr txBox="1"/>
          <p:nvPr/>
        </p:nvSpPr>
        <p:spPr>
          <a:xfrm>
            <a:off x="7086600" y="4723825"/>
            <a:ext cx="18624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chemeClr val="lt1"/>
                </a:solidFill>
              </a:rPr>
              <a:t>    </a:t>
            </a:r>
            <a:fld id="{00000000-1234-1234-1234-123412341234}" type="slidenum">
              <a:rPr lang="de" sz="800">
                <a:solidFill>
                  <a:schemeClr val="lt1"/>
                </a:solidFill>
              </a:rPr>
              <a:t>‹#›</a:t>
            </a:fld>
            <a:endParaRPr sz="8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269" name="Google Shape;269;p41"/>
          <p:cNvSpPr/>
          <p:nvPr>
            <p:ph idx="2" type="pic"/>
          </p:nvPr>
        </p:nvSpPr>
        <p:spPr>
          <a:xfrm>
            <a:off x="247500" y="1837950"/>
            <a:ext cx="2016000" cy="241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- Style - 2 (Light Blue)">
  <p:cSld name="Agenda_2_1_1_1_2_1_1">
    <p:bg>
      <p:bgPr>
        <a:solidFill>
          <a:schemeClr val="accent6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2"/>
          <p:cNvSpPr/>
          <p:nvPr/>
        </p:nvSpPr>
        <p:spPr>
          <a:xfrm>
            <a:off x="0" y="0"/>
            <a:ext cx="2511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72" name="Google Shape;272;p42"/>
          <p:cNvSpPr txBox="1"/>
          <p:nvPr>
            <p:ph type="title"/>
          </p:nvPr>
        </p:nvSpPr>
        <p:spPr>
          <a:xfrm>
            <a:off x="247500" y="303533"/>
            <a:ext cx="2016000" cy="13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3" name="Google Shape;273;p42"/>
          <p:cNvSpPr/>
          <p:nvPr>
            <p:ph idx="2" type="pic"/>
          </p:nvPr>
        </p:nvSpPr>
        <p:spPr>
          <a:xfrm>
            <a:off x="247500" y="1837950"/>
            <a:ext cx="2016000" cy="241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274" name="Google Shape;274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- Style - 2 (Gray)">
  <p:cSld name="Agenda_2_1_1_1_2_1_1_1">
    <p:bg>
      <p:bgPr>
        <a:solidFill>
          <a:srgbClr val="EFEFE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3"/>
          <p:cNvSpPr/>
          <p:nvPr/>
        </p:nvSpPr>
        <p:spPr>
          <a:xfrm>
            <a:off x="0" y="0"/>
            <a:ext cx="2511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77" name="Google Shape;277;p43"/>
          <p:cNvSpPr txBox="1"/>
          <p:nvPr>
            <p:ph type="title"/>
          </p:nvPr>
        </p:nvSpPr>
        <p:spPr>
          <a:xfrm>
            <a:off x="247500" y="303533"/>
            <a:ext cx="2016000" cy="13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8" name="Google Shape;278;p43"/>
          <p:cNvSpPr/>
          <p:nvPr>
            <p:ph idx="2" type="pic"/>
          </p:nvPr>
        </p:nvSpPr>
        <p:spPr>
          <a:xfrm>
            <a:off x="247500" y="1837950"/>
            <a:ext cx="2016000" cy="241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279" name="Google Shape;279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Drittel_Text M">
  <p:cSld name="Zwei Drittel_Text M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4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82" name="Google Shape;282;p44"/>
          <p:cNvSpPr txBox="1"/>
          <p:nvPr>
            <p:ph idx="1" type="body"/>
          </p:nvPr>
        </p:nvSpPr>
        <p:spPr>
          <a:xfrm>
            <a:off x="306000" y="1113250"/>
            <a:ext cx="56160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048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indent="-304800" lvl="5" marL="2743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6pPr>
            <a:lvl7pPr indent="-304800" lvl="6" marL="3200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7pPr>
            <a:lvl8pPr indent="-304800" lvl="7" marL="3657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8pPr>
            <a:lvl9pPr indent="-304800" lvl="8" marL="411480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200"/>
              <a:buChar char="−"/>
              <a:defRPr sz="1200"/>
            </a:lvl9pPr>
          </a:lstStyle>
          <a:p/>
        </p:txBody>
      </p:sp>
      <p:sp>
        <p:nvSpPr>
          <p:cNvPr id="283" name="Google Shape;283;p44"/>
          <p:cNvSpPr txBox="1"/>
          <p:nvPr>
            <p:ph idx="2" type="body"/>
          </p:nvPr>
        </p:nvSpPr>
        <p:spPr>
          <a:xfrm>
            <a:off x="6145475" y="1113250"/>
            <a:ext cx="3639000" cy="29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sz="1200"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−"/>
              <a:defRPr sz="1200"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−"/>
              <a:defRPr sz="1200">
                <a:solidFill>
                  <a:schemeClr val="dk2"/>
                </a:solidFill>
              </a:defRPr>
            </a:lvl5pPr>
            <a:lvl6pPr indent="-304800" lvl="5" marL="2743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−"/>
              <a:defRPr sz="1200">
                <a:solidFill>
                  <a:schemeClr val="dk2"/>
                </a:solidFill>
              </a:defRPr>
            </a:lvl6pPr>
            <a:lvl7pPr indent="-304800" lvl="6" marL="3200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−"/>
              <a:defRPr sz="1200">
                <a:solidFill>
                  <a:schemeClr val="dk2"/>
                </a:solidFill>
              </a:defRPr>
            </a:lvl7pPr>
            <a:lvl8pPr indent="-304800" lvl="7" marL="3657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Char char="−"/>
              <a:defRPr sz="1200">
                <a:solidFill>
                  <a:schemeClr val="dk2"/>
                </a:solidFill>
              </a:defRPr>
            </a:lvl8pPr>
            <a:lvl9pPr indent="-304800" lvl="8" marL="411480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1200"/>
              <a:buChar char="−"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98d4ef3e1_6_0)">
  <p:cSld name="Generated (g4098d4ef3e1_6_0)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33109" y="227713"/>
            <a:ext cx="704405" cy="56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21.xml"/><Relationship Id="rId44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0.xml"/><Relationship Id="rId43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23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2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9E9E">
            <a:alpha val="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None/>
              <a:defRPr b="0" i="0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04575" y="1113750"/>
            <a:ext cx="85329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" name="Google Shape;8;p1"/>
          <p:cNvGrpSpPr/>
          <p:nvPr/>
        </p:nvGrpSpPr>
        <p:grpSpPr>
          <a:xfrm>
            <a:off x="305526" y="-128550"/>
            <a:ext cx="8532948" cy="54000"/>
            <a:chOff x="407368" y="-243408"/>
            <a:chExt cx="11377264" cy="216000"/>
          </a:xfrm>
        </p:grpSpPr>
        <p:cxnSp>
          <p:nvCxnSpPr>
            <p:cNvPr id="9" name="Google Shape;9;p1"/>
            <p:cNvCxnSpPr/>
            <p:nvPr/>
          </p:nvCxnSpPr>
          <p:spPr>
            <a:xfrm>
              <a:off x="407368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" name="Google Shape;10;p1"/>
            <p:cNvCxnSpPr/>
            <p:nvPr/>
          </p:nvCxnSpPr>
          <p:spPr>
            <a:xfrm>
              <a:off x="4007768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" name="Google Shape;11;p1"/>
            <p:cNvCxnSpPr/>
            <p:nvPr/>
          </p:nvCxnSpPr>
          <p:spPr>
            <a:xfrm>
              <a:off x="4295800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>
              <a:off x="5951984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6240016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7896200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8184232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1784632" y="-243408"/>
              <a:ext cx="0" cy="21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" name="Google Shape;17;p1"/>
          <p:cNvGrpSpPr/>
          <p:nvPr/>
        </p:nvGrpSpPr>
        <p:grpSpPr>
          <a:xfrm>
            <a:off x="-126516" y="1113588"/>
            <a:ext cx="54000" cy="3510390"/>
            <a:chOff x="-456728" y="1484784"/>
            <a:chExt cx="216000" cy="4680520"/>
          </a:xfrm>
        </p:grpSpPr>
        <p:cxnSp>
          <p:nvCxnSpPr>
            <p:cNvPr id="18" name="Google Shape;18;p1"/>
            <p:cNvCxnSpPr/>
            <p:nvPr/>
          </p:nvCxnSpPr>
          <p:spPr>
            <a:xfrm>
              <a:off x="-456728" y="1484784"/>
              <a:ext cx="216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-456728" y="6165304"/>
              <a:ext cx="216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0" name="Google Shape;20;p1"/>
          <p:cNvSpPr txBox="1"/>
          <p:nvPr/>
        </p:nvSpPr>
        <p:spPr>
          <a:xfrm>
            <a:off x="7086600" y="4723825"/>
            <a:ext cx="18624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r>
              <a:rPr b="0" i="0" lang="de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fld id="{00000000-1234-1234-1234-123412341234}" type="slidenum">
              <a:rPr b="0" i="0" lang="de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6000" y="4856025"/>
            <a:ext cx="1065377" cy="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 txBox="1"/>
          <p:nvPr/>
        </p:nvSpPr>
        <p:spPr>
          <a:xfrm>
            <a:off x="3006324" y="4726100"/>
            <a:ext cx="25941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de" sz="800">
                <a:solidFill>
                  <a:srgbClr val="000E7E"/>
                </a:solidFill>
              </a:rPr>
              <a:t>6</a:t>
            </a:r>
            <a:r>
              <a:rPr b="0" i="0" lang="de" sz="800" u="none" cap="none" strike="noStrike">
                <a:solidFill>
                  <a:srgbClr val="000E7E"/>
                </a:solidFill>
                <a:latin typeface="Arial"/>
                <a:ea typeface="Arial"/>
                <a:cs typeface="Arial"/>
                <a:sym typeface="Arial"/>
              </a:rPr>
              <a:t> D4L data4life gGmbH. All rights reserved.</a:t>
            </a:r>
            <a:endParaRPr b="0" i="0" sz="800" u="none" cap="none" strike="noStrike">
              <a:solidFill>
                <a:srgbClr val="000E7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3">
          <p15:clr>
            <a:srgbClr val="F26B43"/>
          </p15:clr>
        </p15:guide>
        <p15:guide id="2" pos="2880">
          <p15:clr>
            <a:srgbClr val="F26B43"/>
          </p15:clr>
        </p15:guide>
        <p15:guide id="3" pos="2812">
          <p15:clr>
            <a:srgbClr val="F26B43"/>
          </p15:clr>
        </p15:guide>
        <p15:guide id="4" pos="2948">
          <p15:clr>
            <a:srgbClr val="F26B43"/>
          </p15:clr>
        </p15:guide>
        <p15:guide id="5" pos="5567">
          <p15:clr>
            <a:srgbClr val="F26B43"/>
          </p15:clr>
        </p15:guide>
        <p15:guide id="6" pos="3731">
          <p15:clr>
            <a:srgbClr val="F26B43"/>
          </p15:clr>
        </p15:guide>
        <p15:guide id="7" pos="3866">
          <p15:clr>
            <a:srgbClr val="F26B43"/>
          </p15:clr>
        </p15:guide>
        <p15:guide id="8" pos="2029">
          <p15:clr>
            <a:srgbClr val="F26B43"/>
          </p15:clr>
        </p15:guide>
        <p15:guide id="9" pos="1894">
          <p15:clr>
            <a:srgbClr val="F26B43"/>
          </p15:clr>
        </p15:guide>
        <p15:guide id="10" orient="horz" pos="701">
          <p15:clr>
            <a:srgbClr val="F26B43"/>
          </p15:clr>
        </p15:guide>
        <p15:guide id="11" orient="horz" pos="291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Relationship Id="rId7" Type="http://schemas.openxmlformats.org/officeDocument/2006/relationships/image" Target="../media/image28.png"/><Relationship Id="rId8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31.png"/><Relationship Id="rId22" Type="http://schemas.openxmlformats.org/officeDocument/2006/relationships/image" Target="../media/image53.png"/><Relationship Id="rId21" Type="http://schemas.openxmlformats.org/officeDocument/2006/relationships/image" Target="../media/image42.png"/><Relationship Id="rId23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17.png"/><Relationship Id="rId11" Type="http://schemas.openxmlformats.org/officeDocument/2006/relationships/image" Target="../media/image33.png"/><Relationship Id="rId10" Type="http://schemas.openxmlformats.org/officeDocument/2006/relationships/image" Target="../media/image22.png"/><Relationship Id="rId13" Type="http://schemas.openxmlformats.org/officeDocument/2006/relationships/image" Target="../media/image19.png"/><Relationship Id="rId12" Type="http://schemas.openxmlformats.org/officeDocument/2006/relationships/image" Target="../media/image30.png"/><Relationship Id="rId15" Type="http://schemas.openxmlformats.org/officeDocument/2006/relationships/image" Target="../media/image32.png"/><Relationship Id="rId14" Type="http://schemas.openxmlformats.org/officeDocument/2006/relationships/image" Target="../media/image24.png"/><Relationship Id="rId17" Type="http://schemas.openxmlformats.org/officeDocument/2006/relationships/image" Target="../media/image27.png"/><Relationship Id="rId16" Type="http://schemas.openxmlformats.org/officeDocument/2006/relationships/image" Target="../media/image26.png"/><Relationship Id="rId19" Type="http://schemas.openxmlformats.org/officeDocument/2006/relationships/image" Target="../media/image43.png"/><Relationship Id="rId18" Type="http://schemas.openxmlformats.org/officeDocument/2006/relationships/image" Target="../media/image6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jpg"/><Relationship Id="rId4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jpg"/><Relationship Id="rId4" Type="http://schemas.openxmlformats.org/officeDocument/2006/relationships/hyperlink" Target="http://athena.ohdsi.org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jpg"/><Relationship Id="rId4" Type="http://schemas.openxmlformats.org/officeDocument/2006/relationships/image" Target="../media/image35.png"/><Relationship Id="rId5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Relationship Id="rId4" Type="http://schemas.openxmlformats.org/officeDocument/2006/relationships/hyperlink" Target="https://ohdsi.github.io/TheBookOfOhdsi/" TargetMode="External"/><Relationship Id="rId5" Type="http://schemas.openxmlformats.org/officeDocument/2006/relationships/image" Target="../media/image56.png"/><Relationship Id="rId6" Type="http://schemas.openxmlformats.org/officeDocument/2006/relationships/image" Target="../media/image59.jpg"/><Relationship Id="rId7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0.png"/><Relationship Id="rId4" Type="http://schemas.openxmlformats.org/officeDocument/2006/relationships/image" Target="../media/image50.png"/><Relationship Id="rId5" Type="http://schemas.openxmlformats.org/officeDocument/2006/relationships/image" Target="../media/image49.png"/><Relationship Id="rId6" Type="http://schemas.openxmlformats.org/officeDocument/2006/relationships/image" Target="../media/image59.jpg"/><Relationship Id="rId7" Type="http://schemas.openxmlformats.org/officeDocument/2006/relationships/image" Target="../media/image48.png"/><Relationship Id="rId8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academy.ehden.eu/" TargetMode="External"/><Relationship Id="rId4" Type="http://schemas.openxmlformats.org/officeDocument/2006/relationships/image" Target="../media/image5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Relationship Id="rId4" Type="http://schemas.openxmlformats.org/officeDocument/2006/relationships/image" Target="../media/image5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9.png"/><Relationship Id="rId4" Type="http://schemas.openxmlformats.org/officeDocument/2006/relationships/image" Target="../media/image5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ash.ohdsi.org/" TargetMode="External"/><Relationship Id="rId4" Type="http://schemas.openxmlformats.org/officeDocument/2006/relationships/image" Target="../media/image55.png"/><Relationship Id="rId5" Type="http://schemas.openxmlformats.org/officeDocument/2006/relationships/image" Target="../media/image5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Relationship Id="rId7" Type="http://schemas.openxmlformats.org/officeDocument/2006/relationships/image" Target="../media/image28.png"/><Relationship Id="rId8" Type="http://schemas.openxmlformats.org/officeDocument/2006/relationships/image" Target="../media/image10.png"/><Relationship Id="rId10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Relationship Id="rId4" Type="http://schemas.openxmlformats.org/officeDocument/2006/relationships/image" Target="../media/image54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6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8.jpg"/><Relationship Id="rId4" Type="http://schemas.openxmlformats.org/officeDocument/2006/relationships/image" Target="../media/image31.png"/><Relationship Id="rId5" Type="http://schemas.openxmlformats.org/officeDocument/2006/relationships/image" Target="../media/image6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2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jpg"/><Relationship Id="rId4" Type="http://schemas.openxmlformats.org/officeDocument/2006/relationships/image" Target="../media/image6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0.png"/><Relationship Id="rId4" Type="http://schemas.openxmlformats.org/officeDocument/2006/relationships/image" Target="../media/image5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>
            <p:ph type="ctrTitle"/>
          </p:nvPr>
        </p:nvSpPr>
        <p:spPr>
          <a:xfrm>
            <a:off x="305526" y="1113238"/>
            <a:ext cx="5616300" cy="1188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Knowledge4Life</a:t>
            </a:r>
            <a:endParaRPr/>
          </a:p>
        </p:txBody>
      </p:sp>
      <p:sp>
        <p:nvSpPr>
          <p:cNvPr id="291" name="Google Shape;291;p46"/>
          <p:cNvSpPr txBox="1"/>
          <p:nvPr>
            <p:ph idx="1" type="subTitle"/>
          </p:nvPr>
        </p:nvSpPr>
        <p:spPr>
          <a:xfrm>
            <a:off x="305526" y="2409460"/>
            <a:ext cx="5616600" cy="11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June 29, 2026</a:t>
            </a:r>
            <a:endParaRPr/>
          </a:p>
        </p:txBody>
      </p:sp>
      <p:pic>
        <p:nvPicPr>
          <p:cNvPr id="292" name="Google Shape;29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551" y="422888"/>
            <a:ext cx="2917075" cy="4297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7"/>
          <p:cNvSpPr txBox="1"/>
          <p:nvPr>
            <p:ph type="ctrTitle"/>
          </p:nvPr>
        </p:nvSpPr>
        <p:spPr>
          <a:xfrm>
            <a:off x="305526" y="1113238"/>
            <a:ext cx="56163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de"/>
              <a:t>       OHDSI </a:t>
            </a:r>
            <a:endParaRPr/>
          </a:p>
        </p:txBody>
      </p:sp>
      <p:sp>
        <p:nvSpPr>
          <p:cNvPr id="298" name="Google Shape;298;p47"/>
          <p:cNvSpPr txBox="1"/>
          <p:nvPr>
            <p:ph idx="1" type="subTitle"/>
          </p:nvPr>
        </p:nvSpPr>
        <p:spPr>
          <a:xfrm>
            <a:off x="305526" y="2409460"/>
            <a:ext cx="5616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SzPts val="2100"/>
              <a:buNone/>
            </a:pPr>
            <a:r>
              <a:rPr lang="de"/>
              <a:t>The Community and Science behind it</a:t>
            </a:r>
            <a:endParaRPr/>
          </a:p>
        </p:txBody>
      </p:sp>
      <p:pic>
        <p:nvPicPr>
          <p:cNvPr id="299" name="Google Shape;299;p47" title="OHDSI-logo-with-text-vertical-colored-249x300.png"/>
          <p:cNvPicPr preferRelativeResize="0"/>
          <p:nvPr/>
        </p:nvPicPr>
        <p:blipFill rotWithShape="1">
          <a:blip r:embed="rId3">
            <a:alphaModFix/>
          </a:blip>
          <a:srcRect b="28244" l="11648" r="10700" t="7303"/>
          <a:stretch/>
        </p:blipFill>
        <p:spPr>
          <a:xfrm>
            <a:off x="336875" y="1625432"/>
            <a:ext cx="727075" cy="72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8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Before we dive in</a:t>
            </a:r>
            <a:endParaRPr/>
          </a:p>
        </p:txBody>
      </p:sp>
      <p:sp>
        <p:nvSpPr>
          <p:cNvPr id="305" name="Google Shape;305;p48"/>
          <p:cNvSpPr/>
          <p:nvPr/>
        </p:nvSpPr>
        <p:spPr>
          <a:xfrm>
            <a:off x="7327625" y="4726175"/>
            <a:ext cx="1458000" cy="26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8"/>
          <p:cNvSpPr txBox="1"/>
          <p:nvPr/>
        </p:nvSpPr>
        <p:spPr>
          <a:xfrm>
            <a:off x="8287008" y="4720796"/>
            <a:ext cx="7263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CCCCCC"/>
                </a:solidFill>
              </a:rPr>
              <a:t>Internal</a:t>
            </a:r>
            <a:endParaRPr sz="800">
              <a:solidFill>
                <a:srgbClr val="CCCCCC"/>
              </a:solidFill>
            </a:endParaRPr>
          </a:p>
        </p:txBody>
      </p:sp>
      <p:pic>
        <p:nvPicPr>
          <p:cNvPr descr="all might from my hero academia says `` now it 's your turn '' while looking down . (Provided by Tenor)" id="307" name="Google Shape;30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9050" y="1500856"/>
            <a:ext cx="381000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8"/>
          <p:cNvSpPr txBox="1"/>
          <p:nvPr>
            <p:ph idx="1" type="body"/>
          </p:nvPr>
        </p:nvSpPr>
        <p:spPr>
          <a:xfrm>
            <a:off x="305525" y="1113250"/>
            <a:ext cx="8532000" cy="35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9"/>
          <p:cNvSpPr/>
          <p:nvPr/>
        </p:nvSpPr>
        <p:spPr>
          <a:xfrm>
            <a:off x="7327625" y="4726175"/>
            <a:ext cx="1458000" cy="26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9"/>
          <p:cNvSpPr txBox="1"/>
          <p:nvPr/>
        </p:nvSpPr>
        <p:spPr>
          <a:xfrm>
            <a:off x="8287008" y="4720796"/>
            <a:ext cx="7263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CCCCCC"/>
                </a:solidFill>
              </a:rPr>
              <a:t>Internal</a:t>
            </a:r>
            <a:endParaRPr sz="800">
              <a:solidFill>
                <a:srgbClr val="CCCCCC"/>
              </a:solidFill>
            </a:endParaRPr>
          </a:p>
        </p:txBody>
      </p:sp>
      <p:sp>
        <p:nvSpPr>
          <p:cNvPr id="315" name="Google Shape;315;p49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Before we dive in</a:t>
            </a:r>
            <a:endParaRPr/>
          </a:p>
        </p:txBody>
      </p:sp>
      <p:sp>
        <p:nvSpPr>
          <p:cNvPr id="316" name="Google Shape;316;p49"/>
          <p:cNvSpPr txBox="1"/>
          <p:nvPr/>
        </p:nvSpPr>
        <p:spPr>
          <a:xfrm>
            <a:off x="306000" y="2125350"/>
            <a:ext cx="853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300">
                <a:solidFill>
                  <a:schemeClr val="dk1"/>
                </a:solidFill>
              </a:rPr>
              <a:t>What comes to mind when you hear 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300">
                <a:solidFill>
                  <a:schemeClr val="dk1"/>
                </a:solidFill>
              </a:rPr>
              <a:t>‘OHDSI’?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Before we dive in</a:t>
            </a:r>
            <a:endParaRPr/>
          </a:p>
        </p:txBody>
      </p:sp>
      <p:sp>
        <p:nvSpPr>
          <p:cNvPr id="322" name="Google Shape;322;p50"/>
          <p:cNvSpPr/>
          <p:nvPr/>
        </p:nvSpPr>
        <p:spPr>
          <a:xfrm>
            <a:off x="7327625" y="4726175"/>
            <a:ext cx="1458000" cy="26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50"/>
          <p:cNvSpPr txBox="1"/>
          <p:nvPr/>
        </p:nvSpPr>
        <p:spPr>
          <a:xfrm>
            <a:off x="8287008" y="4720796"/>
            <a:ext cx="7263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CCCCCC"/>
                </a:solidFill>
              </a:rPr>
              <a:t>Internal</a:t>
            </a:r>
            <a:endParaRPr sz="800">
              <a:solidFill>
                <a:srgbClr val="CCCCCC"/>
              </a:solidFill>
            </a:endParaRPr>
          </a:p>
        </p:txBody>
      </p:sp>
      <p:pic>
        <p:nvPicPr>
          <p:cNvPr id="324" name="Google Shape;324;p50" title="mentimeter_qr_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2688" y="1092438"/>
            <a:ext cx="2958625" cy="295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50"/>
          <p:cNvSpPr txBox="1"/>
          <p:nvPr/>
        </p:nvSpPr>
        <p:spPr>
          <a:xfrm>
            <a:off x="2333075" y="4151650"/>
            <a:ext cx="4476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Or join via https://www.menti.com/alfgo9w78rk3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1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Agenda</a:t>
            </a:r>
            <a:endParaRPr/>
          </a:p>
        </p:txBody>
      </p:sp>
      <p:sp>
        <p:nvSpPr>
          <p:cNvPr id="331" name="Google Shape;331;p51"/>
          <p:cNvSpPr txBox="1"/>
          <p:nvPr>
            <p:ph idx="1" type="body"/>
          </p:nvPr>
        </p:nvSpPr>
        <p:spPr>
          <a:xfrm>
            <a:off x="305525" y="1113250"/>
            <a:ext cx="8532000" cy="35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u="sng"/>
              <a:t>Part 1: Introduction OHDSI</a:t>
            </a:r>
            <a:endParaRPr b="1" u="sng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The Vision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The Issue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The Approach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u="sng"/>
              <a:t>Part 2: The </a:t>
            </a:r>
            <a:r>
              <a:rPr b="1" lang="de" u="sng"/>
              <a:t>Building</a:t>
            </a:r>
            <a:r>
              <a:rPr b="1" lang="de" u="sng"/>
              <a:t> Blocks</a:t>
            </a:r>
            <a:endParaRPr b="1" u="sng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The Structure: OMOP Common Data Model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The Semantics: Vocabulary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The Engine: Methods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The Glue: Community &amp; Conventions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How it all comes together: </a:t>
            </a:r>
            <a:r>
              <a:rPr lang="de"/>
              <a:t>The Network Effect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de"/>
              <a:t>EHDEN and DARWIN EU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u="sng"/>
              <a:t>Part 3: Role of Data4Life in the OHDSI ecosystem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u="sng"/>
              <a:t>Part 4: Q&amp;A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51"/>
          <p:cNvSpPr/>
          <p:nvPr/>
        </p:nvSpPr>
        <p:spPr>
          <a:xfrm>
            <a:off x="7327625" y="4726175"/>
            <a:ext cx="1458000" cy="26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1"/>
          <p:cNvSpPr txBox="1"/>
          <p:nvPr/>
        </p:nvSpPr>
        <p:spPr>
          <a:xfrm>
            <a:off x="8287008" y="4720796"/>
            <a:ext cx="7263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CCCCCC"/>
                </a:solidFill>
              </a:rPr>
              <a:t>Internal</a:t>
            </a:r>
            <a:endParaRPr sz="8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2"/>
          <p:cNvSpPr txBox="1"/>
          <p:nvPr>
            <p:ph type="title"/>
          </p:nvPr>
        </p:nvSpPr>
        <p:spPr>
          <a:xfrm>
            <a:off x="305990" y="1113238"/>
            <a:ext cx="5831700" cy="1188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Part 1: Introduction OHDSI</a:t>
            </a:r>
            <a:endParaRPr/>
          </a:p>
        </p:txBody>
      </p:sp>
      <p:sp>
        <p:nvSpPr>
          <p:cNvPr id="339" name="Google Shape;339;p52"/>
          <p:cNvSpPr txBox="1"/>
          <p:nvPr>
            <p:ph idx="12" type="sldNum"/>
          </p:nvPr>
        </p:nvSpPr>
        <p:spPr>
          <a:xfrm>
            <a:off x="8568475" y="4690965"/>
            <a:ext cx="270000" cy="25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3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Introduction OHDSI |</a:t>
            </a:r>
            <a:r>
              <a:rPr lang="de"/>
              <a:t> The Vision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5024" y="3470793"/>
            <a:ext cx="1153575" cy="11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5392" y="1629474"/>
            <a:ext cx="1997813" cy="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3"/>
          <p:cNvSpPr/>
          <p:nvPr/>
        </p:nvSpPr>
        <p:spPr>
          <a:xfrm>
            <a:off x="7327625" y="4726175"/>
            <a:ext cx="1458000" cy="26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3"/>
          <p:cNvSpPr txBox="1"/>
          <p:nvPr/>
        </p:nvSpPr>
        <p:spPr>
          <a:xfrm>
            <a:off x="8287008" y="4720796"/>
            <a:ext cx="7263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CCCCCC"/>
                </a:solidFill>
              </a:rPr>
              <a:t>Internal</a:t>
            </a:r>
            <a:endParaRPr sz="800">
              <a:solidFill>
                <a:srgbClr val="CCCCCC"/>
              </a:solidFill>
            </a:endParaRPr>
          </a:p>
        </p:txBody>
      </p:sp>
      <p:sp>
        <p:nvSpPr>
          <p:cNvPr id="349" name="Google Shape;349;p53"/>
          <p:cNvSpPr txBox="1"/>
          <p:nvPr/>
        </p:nvSpPr>
        <p:spPr>
          <a:xfrm>
            <a:off x="253625" y="2200475"/>
            <a:ext cx="85320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Vision:</a:t>
            </a:r>
            <a:r>
              <a:rPr i="1" lang="de">
                <a:solidFill>
                  <a:schemeClr val="dk1"/>
                </a:solidFill>
              </a:rPr>
              <a:t> “A world in which observational research produces a comprehensive understanding of health and disease." </a:t>
            </a:r>
            <a:r>
              <a:rPr lang="de">
                <a:solidFill>
                  <a:schemeClr val="dk1"/>
                </a:solidFill>
              </a:rPr>
              <a:t>→ </a:t>
            </a:r>
            <a:r>
              <a:rPr lang="de">
                <a:solidFill>
                  <a:schemeClr val="dk1"/>
                </a:solidFill>
              </a:rPr>
              <a:t>Move from one-off studies to a </a:t>
            </a:r>
            <a:r>
              <a:rPr b="1" lang="de">
                <a:solidFill>
                  <a:schemeClr val="dk1"/>
                </a:solidFill>
              </a:rPr>
              <a:t>global pharmacovigilance and drug effectiveness system</a:t>
            </a:r>
            <a:endParaRPr b="1"/>
          </a:p>
        </p:txBody>
      </p:sp>
      <p:sp>
        <p:nvSpPr>
          <p:cNvPr id="350" name="Google Shape;350;p53"/>
          <p:cNvSpPr txBox="1"/>
          <p:nvPr/>
        </p:nvSpPr>
        <p:spPr>
          <a:xfrm>
            <a:off x="253625" y="3204725"/>
            <a:ext cx="8479200" cy="11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Idea</a:t>
            </a:r>
            <a:r>
              <a:rPr lang="de">
                <a:solidFill>
                  <a:schemeClr val="dk1"/>
                </a:solidFill>
              </a:rPr>
              <a:t>: Systematically generate evidence across treatment × outcome combinations to answer three Q’s: </a:t>
            </a:r>
            <a:endParaRPr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de">
                <a:solidFill>
                  <a:schemeClr val="dk1"/>
                </a:solidFill>
              </a:rPr>
              <a:t>How often does the outcome occur? → </a:t>
            </a:r>
            <a:r>
              <a:rPr i="1" lang="de">
                <a:solidFill>
                  <a:schemeClr val="dk1"/>
                </a:solidFill>
              </a:rPr>
              <a:t>Characterization</a:t>
            </a:r>
            <a:endParaRPr i="1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de">
                <a:solidFill>
                  <a:schemeClr val="dk1"/>
                </a:solidFill>
              </a:rPr>
              <a:t>Does a treatment cause an outcome</a:t>
            </a:r>
            <a:r>
              <a:rPr lang="de">
                <a:solidFill>
                  <a:schemeClr val="dk1"/>
                </a:solidFill>
              </a:rPr>
              <a:t>? → </a:t>
            </a:r>
            <a:r>
              <a:rPr i="1" lang="de">
                <a:solidFill>
                  <a:schemeClr val="dk1"/>
                </a:solidFill>
              </a:rPr>
              <a:t>Population-level effect estimation</a:t>
            </a:r>
            <a:endParaRPr i="1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de">
                <a:solidFill>
                  <a:schemeClr val="dk1"/>
                </a:solidFill>
              </a:rPr>
              <a:t>How likely will a person experience an outcome?</a:t>
            </a:r>
            <a:r>
              <a:rPr lang="de">
                <a:solidFill>
                  <a:schemeClr val="dk1"/>
                </a:solidFill>
              </a:rPr>
              <a:t> → </a:t>
            </a:r>
            <a:r>
              <a:rPr i="1" lang="de">
                <a:solidFill>
                  <a:schemeClr val="dk1"/>
                </a:solidFill>
              </a:rPr>
              <a:t>Patient-level prediction</a:t>
            </a:r>
            <a:endParaRPr/>
          </a:p>
        </p:txBody>
      </p:sp>
      <p:sp>
        <p:nvSpPr>
          <p:cNvPr id="351" name="Google Shape;351;p53"/>
          <p:cNvSpPr txBox="1"/>
          <p:nvPr/>
        </p:nvSpPr>
        <p:spPr>
          <a:xfrm>
            <a:off x="253625" y="1047250"/>
            <a:ext cx="84792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Definition</a:t>
            </a:r>
            <a:r>
              <a:rPr lang="de">
                <a:solidFill>
                  <a:schemeClr val="dk1"/>
                </a:solidFill>
              </a:rPr>
              <a:t>: Observational Health Data Sciences and Informatics (OHDSI, pronounced "Odyssey") is an interdisciplinary, open-science collaborative that uses large-scale analytics to generate reliable evidence from observational health data.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4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Introduction</a:t>
            </a:r>
            <a:r>
              <a:rPr b="1" lang="de"/>
              <a:t> OHDSI |</a:t>
            </a:r>
            <a:r>
              <a:rPr lang="de"/>
              <a:t> The Issue</a:t>
            </a:r>
            <a:endParaRPr b="1"/>
          </a:p>
        </p:txBody>
      </p:sp>
      <p:pic>
        <p:nvPicPr>
          <p:cNvPr id="357" name="Google Shape;35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394" y="16116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3815" y="16116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5671" y="16116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1960" y="16116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7526" y="16116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48249" y="16116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5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0105" y="1611675"/>
            <a:ext cx="10800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4"/>
          <p:cNvSpPr txBox="1"/>
          <p:nvPr/>
        </p:nvSpPr>
        <p:spPr>
          <a:xfrm>
            <a:off x="305525" y="2867425"/>
            <a:ext cx="8532000" cy="1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Yet little of it can be used for research that could improve patient outcomes and decision-making because data most often is…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de" sz="1600">
                <a:solidFill>
                  <a:schemeClr val="dk1"/>
                </a:solidFill>
              </a:rPr>
              <a:t>not harmonized</a:t>
            </a:r>
            <a:r>
              <a:rPr lang="de" sz="1600">
                <a:solidFill>
                  <a:schemeClr val="dk1"/>
                </a:solidFill>
              </a:rPr>
              <a:t>,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de" sz="1600">
                <a:solidFill>
                  <a:schemeClr val="dk1"/>
                </a:solidFill>
              </a:rPr>
              <a:t>stored in isolated systems,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de" sz="1600">
                <a:solidFill>
                  <a:schemeClr val="dk1"/>
                </a:solidFill>
              </a:rPr>
              <a:t>hard to share.</a:t>
            </a:r>
            <a:endParaRPr/>
          </a:p>
        </p:txBody>
      </p:sp>
      <p:sp>
        <p:nvSpPr>
          <p:cNvPr id="365" name="Google Shape;365;p54"/>
          <p:cNvSpPr txBox="1"/>
          <p:nvPr/>
        </p:nvSpPr>
        <p:spPr>
          <a:xfrm>
            <a:off x="305525" y="1112850"/>
            <a:ext cx="853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Vast amounts of health data are generated every day.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5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Introduction OHDSI |</a:t>
            </a:r>
            <a:r>
              <a:rPr lang="de"/>
              <a:t> The Approach</a:t>
            </a:r>
            <a:endParaRPr b="1"/>
          </a:p>
        </p:txBody>
      </p:sp>
      <p:sp>
        <p:nvSpPr>
          <p:cNvPr id="371" name="Google Shape;371;p55"/>
          <p:cNvSpPr/>
          <p:nvPr/>
        </p:nvSpPr>
        <p:spPr>
          <a:xfrm>
            <a:off x="305525" y="1113259"/>
            <a:ext cx="2674500" cy="3511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5"/>
          <p:cNvSpPr/>
          <p:nvPr/>
        </p:nvSpPr>
        <p:spPr>
          <a:xfrm>
            <a:off x="476975" y="1250400"/>
            <a:ext cx="137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3E3E"/>
              </a:buClr>
              <a:buSzPts val="800"/>
              <a:buFont typeface="Calibri"/>
              <a:buNone/>
            </a:pPr>
            <a:r>
              <a:rPr b="1" i="0" lang="de" sz="1000" u="none" cap="none" strike="noStrike">
                <a:solidFill>
                  <a:schemeClr val="accent1"/>
                </a:solidFill>
              </a:rPr>
              <a:t>WITHOUT </a:t>
            </a:r>
            <a:r>
              <a:rPr b="1" lang="de" sz="1000">
                <a:solidFill>
                  <a:schemeClr val="accent1"/>
                </a:solidFill>
              </a:rPr>
              <a:t>OHDSI</a:t>
            </a:r>
            <a:endParaRPr b="1" i="0" sz="1000" u="none" cap="none" strike="noStrike">
              <a:solidFill>
                <a:schemeClr val="accent1"/>
              </a:solidFill>
            </a:endParaRPr>
          </a:p>
        </p:txBody>
      </p:sp>
      <p:sp>
        <p:nvSpPr>
          <p:cNvPr id="373" name="Google Shape;373;p55"/>
          <p:cNvSpPr/>
          <p:nvPr/>
        </p:nvSpPr>
        <p:spPr>
          <a:xfrm>
            <a:off x="476975" y="1456150"/>
            <a:ext cx="2503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Individual analytics per site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4" name="Google Shape;37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440" y="1943025"/>
            <a:ext cx="308611" cy="308611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55"/>
          <p:cNvSpPr/>
          <p:nvPr/>
        </p:nvSpPr>
        <p:spPr>
          <a:xfrm>
            <a:off x="306410" y="2265351"/>
            <a:ext cx="75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600"/>
              <a:buFont typeface="Calibri"/>
              <a:buNone/>
            </a:pPr>
            <a:r>
              <a:rPr b="0" i="0" lang="de" sz="6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North America</a:t>
            </a:r>
            <a:endParaRPr b="0" i="0" sz="6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6" name="Google Shape;376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184" y="1936200"/>
            <a:ext cx="308611" cy="30861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5"/>
          <p:cNvSpPr/>
          <p:nvPr/>
        </p:nvSpPr>
        <p:spPr>
          <a:xfrm>
            <a:off x="983238" y="2265351"/>
            <a:ext cx="75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600"/>
              <a:buFont typeface="Calibri"/>
              <a:buNone/>
            </a:pPr>
            <a:r>
              <a:rPr b="0" i="0" lang="de" sz="6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Southeast Asia</a:t>
            </a:r>
            <a:endParaRPr b="0" i="0" sz="6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8" name="Google Shape;37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65928" y="1936200"/>
            <a:ext cx="308611" cy="30861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55"/>
          <p:cNvSpPr/>
          <p:nvPr/>
        </p:nvSpPr>
        <p:spPr>
          <a:xfrm>
            <a:off x="1642978" y="2258526"/>
            <a:ext cx="75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600"/>
              <a:buFont typeface="Calibri"/>
              <a:buNone/>
            </a:pPr>
            <a:r>
              <a:rPr b="0" i="0" lang="de" sz="6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China</a:t>
            </a:r>
            <a:endParaRPr b="0" i="0" sz="6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0" name="Google Shape;380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25673" y="1943025"/>
            <a:ext cx="308611" cy="30861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5"/>
          <p:cNvSpPr/>
          <p:nvPr/>
        </p:nvSpPr>
        <p:spPr>
          <a:xfrm>
            <a:off x="2298805" y="2265351"/>
            <a:ext cx="75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600"/>
              <a:buFont typeface="Calibri"/>
              <a:buNone/>
            </a:pPr>
            <a:r>
              <a:rPr b="0" i="0" lang="de" sz="6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Europe</a:t>
            </a:r>
            <a:endParaRPr b="0" i="0" sz="6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2" name="Google Shape;382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6440" y="2485376"/>
            <a:ext cx="308611" cy="308611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5"/>
          <p:cNvSpPr/>
          <p:nvPr/>
        </p:nvSpPr>
        <p:spPr>
          <a:xfrm>
            <a:off x="306410" y="2807702"/>
            <a:ext cx="75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600"/>
              <a:buFont typeface="Calibri"/>
              <a:buNone/>
            </a:pPr>
            <a:r>
              <a:rPr b="0" i="0" lang="de" sz="6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UK</a:t>
            </a:r>
            <a:endParaRPr b="0" i="0" sz="6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4" name="Google Shape;384;p5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06180" y="2491726"/>
            <a:ext cx="308611" cy="308611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55"/>
          <p:cNvSpPr/>
          <p:nvPr/>
        </p:nvSpPr>
        <p:spPr>
          <a:xfrm>
            <a:off x="983238" y="2814052"/>
            <a:ext cx="75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600"/>
              <a:buFont typeface="Calibri"/>
              <a:buNone/>
            </a:pPr>
            <a:r>
              <a:rPr b="0" i="0" lang="de" sz="6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Japan</a:t>
            </a:r>
            <a:endParaRPr b="0" i="0" sz="6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6" name="Google Shape;386;p5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65922" y="2503889"/>
            <a:ext cx="308611" cy="30861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5"/>
          <p:cNvSpPr/>
          <p:nvPr/>
        </p:nvSpPr>
        <p:spPr>
          <a:xfrm>
            <a:off x="1642978" y="2826215"/>
            <a:ext cx="75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600"/>
              <a:buFont typeface="Calibri"/>
              <a:buNone/>
            </a:pPr>
            <a:r>
              <a:rPr b="0" i="0" lang="de" sz="6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India</a:t>
            </a:r>
            <a:endParaRPr b="0" i="0" sz="6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8" name="Google Shape;388;p5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21750" y="2503889"/>
            <a:ext cx="308611" cy="308611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5"/>
          <p:cNvSpPr/>
          <p:nvPr/>
        </p:nvSpPr>
        <p:spPr>
          <a:xfrm>
            <a:off x="2298805" y="2826215"/>
            <a:ext cx="75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600"/>
              <a:buFont typeface="Calibri"/>
              <a:buNone/>
            </a:pPr>
            <a:r>
              <a:rPr b="0" i="0" lang="de" sz="6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South Africa</a:t>
            </a:r>
            <a:endParaRPr b="0" i="0" sz="6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0" name="Google Shape;390;p5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6455" y="3027715"/>
            <a:ext cx="308611" cy="308611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55"/>
          <p:cNvSpPr/>
          <p:nvPr/>
        </p:nvSpPr>
        <p:spPr>
          <a:xfrm>
            <a:off x="323510" y="3350041"/>
            <a:ext cx="75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600"/>
              <a:buFont typeface="Calibri"/>
              <a:buNone/>
            </a:pPr>
            <a:r>
              <a:rPr b="0" i="0" lang="de" sz="6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Switzerland</a:t>
            </a:r>
            <a:endParaRPr b="0" i="0" sz="6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2" name="Google Shape;392;p5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06182" y="3021615"/>
            <a:ext cx="308611" cy="308611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5"/>
          <p:cNvSpPr/>
          <p:nvPr/>
        </p:nvSpPr>
        <p:spPr>
          <a:xfrm>
            <a:off x="983238" y="3343941"/>
            <a:ext cx="75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600"/>
              <a:buFont typeface="Calibri"/>
              <a:buNone/>
            </a:pPr>
            <a:r>
              <a:rPr b="0" i="0" lang="de" sz="6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Italy</a:t>
            </a:r>
            <a:endParaRPr b="0" i="0" sz="6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4" name="Google Shape;394;p5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865660" y="3027715"/>
            <a:ext cx="308611" cy="308611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5"/>
          <p:cNvSpPr/>
          <p:nvPr/>
        </p:nvSpPr>
        <p:spPr>
          <a:xfrm>
            <a:off x="1642715" y="3350041"/>
            <a:ext cx="75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600"/>
              <a:buFont typeface="Calibri"/>
              <a:buNone/>
            </a:pPr>
            <a:r>
              <a:rPr b="0" i="0" lang="de" sz="6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Israel</a:t>
            </a:r>
            <a:endParaRPr b="0" i="0" sz="6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55"/>
          <p:cNvCxnSpPr/>
          <p:nvPr/>
        </p:nvCxnSpPr>
        <p:spPr>
          <a:xfrm>
            <a:off x="504728" y="3699005"/>
            <a:ext cx="2276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97" name="Google Shape;397;p5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11265" y="3890730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5"/>
          <p:cNvSpPr/>
          <p:nvPr/>
        </p:nvSpPr>
        <p:spPr>
          <a:xfrm>
            <a:off x="682723" y="3856450"/>
            <a:ext cx="226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2"/>
              </a:buClr>
              <a:buSzPts val="800"/>
              <a:buFont typeface="Calibri"/>
              <a:buNone/>
            </a:pPr>
            <a:r>
              <a:rPr b="0" i="0" lang="de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analytics script per study site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9" name="Google Shape;399;p5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11265" y="4130760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5"/>
          <p:cNvSpPr/>
          <p:nvPr/>
        </p:nvSpPr>
        <p:spPr>
          <a:xfrm>
            <a:off x="682723" y="4096477"/>
            <a:ext cx="226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2"/>
              </a:buClr>
              <a:buSzPts val="800"/>
              <a:buFont typeface="Calibri"/>
              <a:buNone/>
            </a:pPr>
            <a:r>
              <a:rPr b="0" i="0" lang="de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scalable · not transparent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1" name="Google Shape;401;p5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11265" y="4370790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5"/>
          <p:cNvSpPr/>
          <p:nvPr/>
        </p:nvSpPr>
        <p:spPr>
          <a:xfrm>
            <a:off x="682723" y="4336503"/>
            <a:ext cx="226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2"/>
              </a:buClr>
              <a:buSzPts val="800"/>
              <a:buFont typeface="Calibri"/>
              <a:buNone/>
            </a:pPr>
            <a:r>
              <a:rPr b="0" i="0" lang="de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Expensive, slow, expert-only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5"/>
          <p:cNvSpPr/>
          <p:nvPr/>
        </p:nvSpPr>
        <p:spPr>
          <a:xfrm>
            <a:off x="3717332" y="1461372"/>
            <a:ext cx="1714500" cy="2880600"/>
          </a:xfrm>
          <a:prstGeom prst="roundRect">
            <a:avLst>
              <a:gd fmla="val 4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55"/>
          <p:cNvSpPr/>
          <p:nvPr/>
        </p:nvSpPr>
        <p:spPr>
          <a:xfrm>
            <a:off x="3717332" y="1701403"/>
            <a:ext cx="1714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de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OMOP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55"/>
          <p:cNvSpPr/>
          <p:nvPr/>
        </p:nvSpPr>
        <p:spPr>
          <a:xfrm>
            <a:off x="3717332" y="2044303"/>
            <a:ext cx="1714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200"/>
              </a:buClr>
              <a:buSzPts val="1700"/>
              <a:buFont typeface="Calibri"/>
              <a:buNone/>
            </a:pPr>
            <a:r>
              <a:rPr b="1" i="0" lang="de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CDM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55"/>
          <p:cNvSpPr/>
          <p:nvPr/>
        </p:nvSpPr>
        <p:spPr>
          <a:xfrm>
            <a:off x="3786033" y="2387203"/>
            <a:ext cx="1577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1" lang="de" sz="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one standard, one adapter</a:t>
            </a:r>
            <a:endParaRPr b="0" i="0" sz="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7" name="Google Shape;407;p5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10800000">
            <a:off x="4231682" y="2730103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8" name="Google Shape;408;p5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23073" y="3587353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5"/>
          <p:cNvSpPr/>
          <p:nvPr/>
        </p:nvSpPr>
        <p:spPr>
          <a:xfrm>
            <a:off x="4094523" y="3553063"/>
            <a:ext cx="1234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de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0" name="Google Shape;410;p5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23073" y="3806809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5"/>
          <p:cNvSpPr/>
          <p:nvPr/>
        </p:nvSpPr>
        <p:spPr>
          <a:xfrm>
            <a:off x="4094523" y="3772519"/>
            <a:ext cx="1234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de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Transparent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2" name="Google Shape;412;p5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23073" y="4026265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5"/>
          <p:cNvSpPr/>
          <p:nvPr/>
        </p:nvSpPr>
        <p:spPr>
          <a:xfrm>
            <a:off x="4094523" y="3991975"/>
            <a:ext cx="1234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de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Reproducible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55"/>
          <p:cNvSpPr/>
          <p:nvPr/>
        </p:nvSpPr>
        <p:spPr>
          <a:xfrm>
            <a:off x="6169125" y="1113250"/>
            <a:ext cx="2674500" cy="3511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55"/>
          <p:cNvSpPr/>
          <p:nvPr/>
        </p:nvSpPr>
        <p:spPr>
          <a:xfrm>
            <a:off x="6310830" y="1250400"/>
            <a:ext cx="205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200"/>
              </a:buClr>
              <a:buSzPts val="800"/>
              <a:buFont typeface="Calibri"/>
              <a:buNone/>
            </a:pPr>
            <a:r>
              <a:rPr b="1" i="0" lang="de" sz="1100" u="none" cap="none" strike="noStrike">
                <a:solidFill>
                  <a:schemeClr val="dk1"/>
                </a:solidFill>
              </a:rPr>
              <a:t>WITH OHDSI</a:t>
            </a:r>
            <a:endParaRPr b="1"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416" name="Google Shape;416;p55"/>
          <p:cNvSpPr/>
          <p:nvPr/>
        </p:nvSpPr>
        <p:spPr>
          <a:xfrm>
            <a:off x="6310825" y="1456150"/>
            <a:ext cx="2532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Plug-in analytics, one base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55"/>
          <p:cNvSpPr/>
          <p:nvPr/>
        </p:nvSpPr>
        <p:spPr>
          <a:xfrm>
            <a:off x="6277325" y="1980825"/>
            <a:ext cx="1181100" cy="493800"/>
          </a:xfrm>
          <a:prstGeom prst="roundRect">
            <a:avLst>
              <a:gd fmla="val 694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55"/>
          <p:cNvSpPr/>
          <p:nvPr/>
        </p:nvSpPr>
        <p:spPr>
          <a:xfrm>
            <a:off x="6654525" y="1980825"/>
            <a:ext cx="804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800"/>
              <a:buFont typeface="Calibri"/>
              <a:buNone/>
            </a:pPr>
            <a:r>
              <a:rPr b="1" i="0" lang="de" sz="8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Adherence</a:t>
            </a:r>
            <a:endParaRPr b="0" i="0" sz="8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55"/>
          <p:cNvSpPr/>
          <p:nvPr/>
        </p:nvSpPr>
        <p:spPr>
          <a:xfrm>
            <a:off x="7554327" y="1980825"/>
            <a:ext cx="1181100" cy="493800"/>
          </a:xfrm>
          <a:prstGeom prst="roundRect">
            <a:avLst>
              <a:gd fmla="val 694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5"/>
          <p:cNvSpPr/>
          <p:nvPr/>
        </p:nvSpPr>
        <p:spPr>
          <a:xfrm>
            <a:off x="8026124" y="1980825"/>
            <a:ext cx="709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800"/>
              <a:buFont typeface="Calibri"/>
              <a:buNone/>
            </a:pPr>
            <a:r>
              <a:rPr b="1" i="0" lang="de" sz="8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Mortality</a:t>
            </a:r>
            <a:endParaRPr b="0" i="0" sz="8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5"/>
          <p:cNvSpPr/>
          <p:nvPr/>
        </p:nvSpPr>
        <p:spPr>
          <a:xfrm>
            <a:off x="6277325" y="2563751"/>
            <a:ext cx="1181100" cy="493800"/>
          </a:xfrm>
          <a:prstGeom prst="roundRect">
            <a:avLst>
              <a:gd fmla="val 694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5"/>
          <p:cNvSpPr/>
          <p:nvPr/>
        </p:nvSpPr>
        <p:spPr>
          <a:xfrm>
            <a:off x="6654525" y="2563751"/>
            <a:ext cx="804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800"/>
              <a:buFont typeface="Calibri"/>
              <a:buNone/>
            </a:pPr>
            <a:r>
              <a:rPr b="1" i="0" lang="de" sz="8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 b="0" i="0" sz="8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5"/>
          <p:cNvSpPr/>
          <p:nvPr/>
        </p:nvSpPr>
        <p:spPr>
          <a:xfrm>
            <a:off x="7554327" y="2563751"/>
            <a:ext cx="1181100" cy="493800"/>
          </a:xfrm>
          <a:prstGeom prst="roundRect">
            <a:avLst>
              <a:gd fmla="val 694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55"/>
          <p:cNvSpPr/>
          <p:nvPr/>
        </p:nvSpPr>
        <p:spPr>
          <a:xfrm>
            <a:off x="8026124" y="2563751"/>
            <a:ext cx="709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800"/>
              <a:buFont typeface="Calibri"/>
              <a:buNone/>
            </a:pPr>
            <a:r>
              <a:rPr b="1" i="0" lang="de" sz="8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Safety</a:t>
            </a:r>
            <a:endParaRPr b="0" i="0" sz="8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5"/>
          <p:cNvSpPr/>
          <p:nvPr/>
        </p:nvSpPr>
        <p:spPr>
          <a:xfrm>
            <a:off x="6277325" y="3146678"/>
            <a:ext cx="1181100" cy="493800"/>
          </a:xfrm>
          <a:prstGeom prst="roundRect">
            <a:avLst>
              <a:gd fmla="val 694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5"/>
          <p:cNvSpPr/>
          <p:nvPr/>
        </p:nvSpPr>
        <p:spPr>
          <a:xfrm>
            <a:off x="6654525" y="3146678"/>
            <a:ext cx="804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800"/>
              <a:buFont typeface="Calibri"/>
              <a:buNone/>
            </a:pPr>
            <a:r>
              <a:rPr b="1" i="0" lang="de" sz="8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b="0" i="0" sz="8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55"/>
          <p:cNvSpPr/>
          <p:nvPr/>
        </p:nvSpPr>
        <p:spPr>
          <a:xfrm>
            <a:off x="7554327" y="3146678"/>
            <a:ext cx="1181100" cy="493800"/>
          </a:xfrm>
          <a:prstGeom prst="roundRect">
            <a:avLst>
              <a:gd fmla="val 694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55"/>
          <p:cNvSpPr/>
          <p:nvPr/>
        </p:nvSpPr>
        <p:spPr>
          <a:xfrm>
            <a:off x="8026124" y="3146678"/>
            <a:ext cx="709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800"/>
              <a:buFont typeface="Calibri"/>
              <a:buNone/>
            </a:pPr>
            <a:r>
              <a:rPr b="1" i="0" lang="de" sz="800" u="none" cap="none" strike="noStrike">
                <a:solidFill>
                  <a:srgbClr val="595757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800" u="none" cap="none" strike="noStrike">
              <a:solidFill>
                <a:srgbClr val="5957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29" name="Google Shape;429;p5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368320" y="3890730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5"/>
          <p:cNvSpPr/>
          <p:nvPr/>
        </p:nvSpPr>
        <p:spPr>
          <a:xfrm>
            <a:off x="6539774" y="3856450"/>
            <a:ext cx="226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2"/>
              </a:buClr>
              <a:buSzPts val="800"/>
              <a:buFont typeface="Calibri"/>
              <a:buNone/>
            </a:pPr>
            <a:r>
              <a:rPr b="0" i="0" lang="de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Scalable across the OHDSI network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1" name="Google Shape;431;p5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368320" y="4130760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5"/>
          <p:cNvSpPr/>
          <p:nvPr/>
        </p:nvSpPr>
        <p:spPr>
          <a:xfrm>
            <a:off x="6539774" y="4096477"/>
            <a:ext cx="226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2"/>
              </a:buClr>
              <a:buSzPts val="800"/>
              <a:buFont typeface="Calibri"/>
              <a:buNone/>
            </a:pPr>
            <a:r>
              <a:rPr b="0" i="0" lang="de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Transparent, auditable, open-source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3" name="Google Shape;433;p5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368320" y="4370790"/>
            <a:ext cx="109728" cy="109728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5"/>
          <p:cNvSpPr/>
          <p:nvPr/>
        </p:nvSpPr>
        <p:spPr>
          <a:xfrm>
            <a:off x="6539774" y="4336503"/>
            <a:ext cx="226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2"/>
              </a:buClr>
              <a:buSzPts val="800"/>
              <a:buFont typeface="Calibri"/>
              <a:buNone/>
            </a:pPr>
            <a:r>
              <a:rPr b="0" i="0" lang="de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Accessible beyond expert statisticians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55"/>
          <p:cNvCxnSpPr/>
          <p:nvPr/>
        </p:nvCxnSpPr>
        <p:spPr>
          <a:xfrm>
            <a:off x="6368327" y="3699005"/>
            <a:ext cx="2276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36" name="Google Shape;436;p55"/>
          <p:cNvGrpSpPr/>
          <p:nvPr/>
        </p:nvGrpSpPr>
        <p:grpSpPr>
          <a:xfrm>
            <a:off x="5761841" y="2785739"/>
            <a:ext cx="77250" cy="505500"/>
            <a:chOff x="4409150" y="3609375"/>
            <a:chExt cx="77250" cy="505500"/>
          </a:xfrm>
        </p:grpSpPr>
        <p:sp>
          <p:nvSpPr>
            <p:cNvPr id="437" name="Google Shape;437;p55"/>
            <p:cNvSpPr/>
            <p:nvPr/>
          </p:nvSpPr>
          <p:spPr>
            <a:xfrm>
              <a:off x="4409150" y="3609375"/>
              <a:ext cx="54900" cy="505500"/>
            </a:xfrm>
            <a:prstGeom prst="chevron">
              <a:avLst>
                <a:gd fmla="val 88288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55"/>
            <p:cNvSpPr/>
            <p:nvPr/>
          </p:nvSpPr>
          <p:spPr>
            <a:xfrm>
              <a:off x="4436600" y="3656175"/>
              <a:ext cx="49800" cy="411900"/>
            </a:xfrm>
            <a:prstGeom prst="chevron">
              <a:avLst>
                <a:gd fmla="val 8828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9" name="Google Shape;439;p55"/>
          <p:cNvGrpSpPr/>
          <p:nvPr/>
        </p:nvGrpSpPr>
        <p:grpSpPr>
          <a:xfrm>
            <a:off x="3310053" y="2785739"/>
            <a:ext cx="77250" cy="505500"/>
            <a:chOff x="4409150" y="3609375"/>
            <a:chExt cx="77250" cy="505500"/>
          </a:xfrm>
        </p:grpSpPr>
        <p:sp>
          <p:nvSpPr>
            <p:cNvPr id="440" name="Google Shape;440;p55"/>
            <p:cNvSpPr/>
            <p:nvPr/>
          </p:nvSpPr>
          <p:spPr>
            <a:xfrm>
              <a:off x="4409150" y="3609375"/>
              <a:ext cx="54900" cy="505500"/>
            </a:xfrm>
            <a:prstGeom prst="chevron">
              <a:avLst>
                <a:gd fmla="val 88288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55"/>
            <p:cNvSpPr/>
            <p:nvPr/>
          </p:nvSpPr>
          <p:spPr>
            <a:xfrm>
              <a:off x="4436600" y="3656175"/>
              <a:ext cx="49800" cy="411900"/>
            </a:xfrm>
            <a:prstGeom prst="chevron">
              <a:avLst>
                <a:gd fmla="val 8828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42" name="Google Shape;442;p5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710650" y="2666650"/>
            <a:ext cx="288000" cy="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5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710650" y="3234275"/>
            <a:ext cx="288000" cy="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5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327788" y="3258600"/>
            <a:ext cx="288000" cy="287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5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710638" y="2071738"/>
            <a:ext cx="288000" cy="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5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349063" y="2071738"/>
            <a:ext cx="288000" cy="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349075" y="2666638"/>
            <a:ext cx="288000" cy="2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6"/>
          <p:cNvSpPr txBox="1"/>
          <p:nvPr>
            <p:ph type="title"/>
          </p:nvPr>
        </p:nvSpPr>
        <p:spPr>
          <a:xfrm>
            <a:off x="306000" y="1113250"/>
            <a:ext cx="6834000" cy="1188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Part 2: The Building Blocks</a:t>
            </a:r>
            <a:endParaRPr/>
          </a:p>
        </p:txBody>
      </p:sp>
      <p:sp>
        <p:nvSpPr>
          <p:cNvPr id="453" name="Google Shape;453;p56"/>
          <p:cNvSpPr txBox="1"/>
          <p:nvPr>
            <p:ph idx="12" type="sldNum"/>
          </p:nvPr>
        </p:nvSpPr>
        <p:spPr>
          <a:xfrm>
            <a:off x="8568475" y="4690965"/>
            <a:ext cx="270000" cy="25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7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OMOP CMD |</a:t>
            </a:r>
            <a:r>
              <a:rPr lang="de"/>
              <a:t> The 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7"/>
          <p:cNvSpPr txBox="1"/>
          <p:nvPr>
            <p:ph idx="1" type="body"/>
          </p:nvPr>
        </p:nvSpPr>
        <p:spPr>
          <a:xfrm>
            <a:off x="305525" y="1112850"/>
            <a:ext cx="4077900" cy="351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/>
              <a:t>Observational Medical Outcomes Partnership (OMOP) Common Data Model (CDM):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/>
              <a:t>Standardized relational schema</a:t>
            </a:r>
            <a:r>
              <a:rPr lang="de" sz="1300"/>
              <a:t>: every source maps its data to the same tables and fields, whatever the original system (EHR, claims, registry)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/>
              <a:t>Person-centric design</a:t>
            </a:r>
            <a:r>
              <a:rPr lang="de" sz="1300"/>
              <a:t>: data organized around patients over time (conditions, drugs, measurements, observation periods)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/>
              <a:t>Structure and semantics are </a:t>
            </a:r>
            <a:r>
              <a:rPr b="1" lang="de" sz="1300"/>
              <a:t>separated</a:t>
            </a:r>
            <a:r>
              <a:rPr b="1" lang="de" sz="1300"/>
              <a:t>:</a:t>
            </a:r>
            <a:r>
              <a:rPr lang="de" sz="1300"/>
              <a:t> the CDM defines </a:t>
            </a:r>
            <a:r>
              <a:rPr i="1" lang="de" sz="1300"/>
              <a:t>how </a:t>
            </a:r>
            <a:r>
              <a:rPr lang="de" sz="1300"/>
              <a:t>data is organized; the Vocabulary </a:t>
            </a:r>
            <a:r>
              <a:rPr lang="de" sz="1300"/>
              <a:t>(next building block) </a:t>
            </a:r>
            <a:r>
              <a:rPr lang="de" sz="1300"/>
              <a:t>defines </a:t>
            </a:r>
            <a:r>
              <a:rPr i="1" lang="de" sz="1300"/>
              <a:t>what </a:t>
            </a:r>
            <a:r>
              <a:rPr lang="de" sz="1300"/>
              <a:t>the codes mean </a:t>
            </a:r>
            <a:endParaRPr sz="1300"/>
          </a:p>
        </p:txBody>
      </p:sp>
      <p:pic>
        <p:nvPicPr>
          <p:cNvPr descr="i need five images. one each with a differently colored lego block and one where they all in the same colors are put together" id="460" name="Google Shape;460;p57"/>
          <p:cNvPicPr preferRelativeResize="0"/>
          <p:nvPr/>
        </p:nvPicPr>
        <p:blipFill rotWithShape="1">
          <a:blip r:embed="rId3">
            <a:alphaModFix/>
          </a:blip>
          <a:srcRect b="25539" l="12260" r="13118" t="27984"/>
          <a:stretch/>
        </p:blipFill>
        <p:spPr>
          <a:xfrm>
            <a:off x="6137275" y="139275"/>
            <a:ext cx="1563226" cy="97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3325" y="1384659"/>
            <a:ext cx="4373576" cy="265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8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OMOP </a:t>
            </a:r>
            <a:r>
              <a:rPr b="1" lang="de"/>
              <a:t>Vocabulary |</a:t>
            </a:r>
            <a:r>
              <a:rPr lang="de"/>
              <a:t> The Semantics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8"/>
          <p:cNvSpPr txBox="1"/>
          <p:nvPr>
            <p:ph idx="1" type="body"/>
          </p:nvPr>
        </p:nvSpPr>
        <p:spPr>
          <a:xfrm>
            <a:off x="305525" y="1113250"/>
            <a:ext cx="4764600" cy="10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/>
              <a:t>Idea</a:t>
            </a:r>
            <a:r>
              <a:rPr lang="de" sz="1300"/>
              <a:t>: 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 sz="1300"/>
              <a:t>Map source codes that encode the same clinical fact onto a common </a:t>
            </a:r>
            <a:r>
              <a:rPr b="1" lang="de" sz="1300"/>
              <a:t>standard concept ID </a:t>
            </a:r>
            <a:endParaRPr b="1"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/>
              <a:t>→ meaning is identical across sites.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descr="i need five images. one each with a differently colored lego block and one where they all in the same colors are put together" id="468" name="Google Shape;468;p58"/>
          <p:cNvPicPr preferRelativeResize="0"/>
          <p:nvPr/>
        </p:nvPicPr>
        <p:blipFill rotWithShape="1">
          <a:blip r:embed="rId3">
            <a:alphaModFix/>
          </a:blip>
          <a:srcRect b="25883" l="11100" r="13999" t="26166"/>
          <a:stretch/>
        </p:blipFill>
        <p:spPr>
          <a:xfrm>
            <a:off x="6137275" y="139275"/>
            <a:ext cx="1563226" cy="10007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9" name="Google Shape;469;p58"/>
          <p:cNvGraphicFramePr/>
          <p:nvPr/>
        </p:nvGraphicFramePr>
        <p:xfrm>
          <a:off x="5284250" y="17800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{042F7DCC-7057-4AC5-B088-AFC40367BCAE}</a:tableStyleId>
              </a:tblPr>
              <a:tblGrid>
                <a:gridCol w="1079475"/>
                <a:gridCol w="1145600"/>
                <a:gridCol w="1328125"/>
              </a:tblGrid>
              <a:tr h="17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000"/>
                        <a:t>Site 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000"/>
                        <a:t>Source </a:t>
                      </a:r>
                      <a:r>
                        <a:rPr b="1" lang="de" sz="1000"/>
                        <a:t>Code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000"/>
                        <a:t>OMOP Concept ID 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17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00"/>
                        <a:t>Site 1 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00"/>
                        <a:t>(ICD-9-CM)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00"/>
                        <a:t>“</a:t>
                      </a:r>
                      <a:r>
                        <a:rPr lang="de" sz="1000"/>
                        <a:t>250.00”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00"/>
                        <a:t>201826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17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00"/>
                        <a:t>Site 2 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00"/>
                        <a:t>(ICD-10)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00"/>
                        <a:t>“</a:t>
                      </a:r>
                      <a:r>
                        <a:rPr lang="de" sz="1000"/>
                        <a:t>E11”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00"/>
                        <a:t>201826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17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00"/>
                        <a:t>Site 3 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00"/>
                        <a:t>(SNOMED CT)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00"/>
                        <a:t>“</a:t>
                      </a:r>
                      <a:r>
                        <a:rPr lang="de" sz="1000"/>
                        <a:t>44054006”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00"/>
                        <a:t>201826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470" name="Google Shape;470;p58"/>
          <p:cNvSpPr txBox="1"/>
          <p:nvPr/>
        </p:nvSpPr>
        <p:spPr>
          <a:xfrm>
            <a:off x="5284400" y="1217250"/>
            <a:ext cx="3553500" cy="554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“</a:t>
            </a:r>
            <a:r>
              <a:rPr lang="de" sz="1200">
                <a:solidFill>
                  <a:schemeClr val="dk1"/>
                </a:solidFill>
              </a:rPr>
              <a:t>Diabetes mellitus type 2</a:t>
            </a:r>
            <a:r>
              <a:rPr lang="de" sz="1200">
                <a:solidFill>
                  <a:schemeClr val="dk1"/>
                </a:solidFill>
              </a:rPr>
              <a:t>”: </a:t>
            </a:r>
            <a:r>
              <a:rPr lang="de" sz="1200">
                <a:solidFill>
                  <a:schemeClr val="dk1"/>
                </a:solidFill>
              </a:rPr>
              <a:t>Same</a:t>
            </a:r>
            <a:r>
              <a:rPr b="1" lang="de" sz="1200">
                <a:solidFill>
                  <a:schemeClr val="dk1"/>
                </a:solidFill>
              </a:rPr>
              <a:t> clinical fact, </a:t>
            </a:r>
            <a:r>
              <a:rPr lang="de" sz="1200">
                <a:solidFill>
                  <a:schemeClr val="dk1"/>
                </a:solidFill>
              </a:rPr>
              <a:t>three </a:t>
            </a:r>
            <a:r>
              <a:rPr b="1" lang="de" sz="1200">
                <a:solidFill>
                  <a:schemeClr val="dk1"/>
                </a:solidFill>
              </a:rPr>
              <a:t>different source codes.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71" name="Google Shape;471;p58"/>
          <p:cNvSpPr txBox="1"/>
          <p:nvPr/>
        </p:nvSpPr>
        <p:spPr>
          <a:xfrm>
            <a:off x="5284550" y="3741988"/>
            <a:ext cx="355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Browse OMOP Standardized Vocabulary at </a:t>
            </a:r>
            <a:r>
              <a:rPr lang="de" sz="1200" u="sng">
                <a:solidFill>
                  <a:schemeClr val="hlink"/>
                </a:solidFill>
                <a:hlinkClick r:id="rId4"/>
              </a:rPr>
              <a:t>athena.ohdsi.org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72" name="Google Shape;472;p58"/>
          <p:cNvSpPr/>
          <p:nvPr/>
        </p:nvSpPr>
        <p:spPr>
          <a:xfrm>
            <a:off x="7518850" y="1771350"/>
            <a:ext cx="1328700" cy="17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58"/>
          <p:cNvSpPr txBox="1"/>
          <p:nvPr/>
        </p:nvSpPr>
        <p:spPr>
          <a:xfrm>
            <a:off x="225300" y="1986250"/>
            <a:ext cx="48444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Analyses are defined on the standard concept IDs and run unchanged everywhere, even when sites use different coding systems.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The vocabulary includes hierarchies (e.g., query a concept and include all more granular facts beneath it).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chemeClr val="dk1"/>
                </a:solidFill>
              </a:rPr>
              <a:t>Challenge</a:t>
            </a:r>
            <a:r>
              <a:rPr lang="de" sz="1300">
                <a:solidFill>
                  <a:schemeClr val="dk1"/>
                </a:solidFill>
              </a:rPr>
              <a:t>: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Source and target vocabularies change constantly, so keeping the mappings current is resource-intensive.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This work is maintained by the OHDSI community and coordinated at Columbia University.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9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OHDSI Methods |</a:t>
            </a:r>
            <a:r>
              <a:rPr lang="de"/>
              <a:t> The Engine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 need five images. one each with a differently colored lego block and one where they all in the same colors are put together" id="479" name="Google Shape;479;p59"/>
          <p:cNvPicPr preferRelativeResize="0"/>
          <p:nvPr/>
        </p:nvPicPr>
        <p:blipFill rotWithShape="1">
          <a:blip r:embed="rId3">
            <a:alphaModFix/>
          </a:blip>
          <a:srcRect b="24537" l="11491" r="12359" t="29263"/>
          <a:stretch/>
        </p:blipFill>
        <p:spPr>
          <a:xfrm>
            <a:off x="6137275" y="165421"/>
            <a:ext cx="1563226" cy="948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2713" y="1546674"/>
            <a:ext cx="2394900" cy="51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6348" y="1307200"/>
            <a:ext cx="1082346" cy="13222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59"/>
          <p:cNvSpPr txBox="1"/>
          <p:nvPr/>
        </p:nvSpPr>
        <p:spPr>
          <a:xfrm>
            <a:off x="198050" y="1051850"/>
            <a:ext cx="8532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chemeClr val="dk1"/>
                </a:solidFill>
              </a:rPr>
              <a:t>Open-source R packages: </a:t>
            </a:r>
            <a:r>
              <a:rPr lang="de" sz="1200">
                <a:solidFill>
                  <a:schemeClr val="dk1"/>
                </a:solidFill>
              </a:rPr>
              <a:t>The Health Analytics Data-to-Evidence Suite (HADES) provides open-source R packages for running state-of-the-art large-scale analytics against the OMOP CDM.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83" name="Google Shape;483;p59"/>
          <p:cNvSpPr txBox="1"/>
          <p:nvPr/>
        </p:nvSpPr>
        <p:spPr>
          <a:xfrm>
            <a:off x="198050" y="1694038"/>
            <a:ext cx="8532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chemeClr val="dk1"/>
                </a:solidFill>
              </a:rPr>
              <a:t>Cohort creation &amp; characterization: 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i="1" lang="de" sz="1200">
                <a:solidFill>
                  <a:schemeClr val="dk1"/>
                </a:solidFill>
              </a:rPr>
              <a:t>ATLAS</a:t>
            </a:r>
            <a:r>
              <a:rPr lang="de" sz="1200">
                <a:solidFill>
                  <a:schemeClr val="dk1"/>
                </a:solidFill>
              </a:rPr>
              <a:t>:</a:t>
            </a:r>
            <a:r>
              <a:rPr lang="de" sz="1200">
                <a:solidFill>
                  <a:schemeClr val="dk1"/>
                </a:solidFill>
              </a:rPr>
              <a:t> Web UI for defining cohorts and run characterizations.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i="1" lang="de" sz="1200">
                <a:solidFill>
                  <a:schemeClr val="dk1"/>
                </a:solidFill>
              </a:rPr>
              <a:t>Achilles</a:t>
            </a:r>
            <a:r>
              <a:rPr lang="de" sz="1200">
                <a:solidFill>
                  <a:schemeClr val="dk1"/>
                </a:solidFill>
              </a:rPr>
              <a:t>: Database-level characterization and summary statistics.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84" name="Google Shape;484;p59"/>
          <p:cNvSpPr txBox="1"/>
          <p:nvPr/>
        </p:nvSpPr>
        <p:spPr>
          <a:xfrm>
            <a:off x="198050" y="2557925"/>
            <a:ext cx="85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chemeClr val="dk1"/>
                </a:solidFill>
              </a:rPr>
              <a:t>Data quality: </a:t>
            </a:r>
            <a:r>
              <a:rPr lang="de" sz="1200">
                <a:solidFill>
                  <a:schemeClr val="dk1"/>
                </a:solidFill>
              </a:rPr>
              <a:t>The DataQualityDashboard allows systematic data-quality checks against the OMOP CDM.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85" name="Google Shape;485;p59"/>
          <p:cNvSpPr txBox="1"/>
          <p:nvPr/>
        </p:nvSpPr>
        <p:spPr>
          <a:xfrm>
            <a:off x="198050" y="2978413"/>
            <a:ext cx="87240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chemeClr val="dk1"/>
                </a:solidFill>
              </a:rPr>
              <a:t>F</a:t>
            </a:r>
            <a:r>
              <a:rPr b="1" lang="de" sz="1200">
                <a:solidFill>
                  <a:schemeClr val="dk1"/>
                </a:solidFill>
              </a:rPr>
              <a:t>ederated analytics: 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i="1" lang="de" sz="1200">
                <a:solidFill>
                  <a:schemeClr val="dk1"/>
                </a:solidFill>
              </a:rPr>
              <a:t>Cohort Discovery (HDR UK) </a:t>
            </a:r>
            <a:r>
              <a:rPr lang="de" sz="1200">
                <a:solidFill>
                  <a:schemeClr val="dk1"/>
                </a:solidFill>
              </a:rPr>
              <a:t>is a live feasibility check that returns counts of matching individuals across many datasets before any data holder needs to be contacted by a researcher. → currently only UK data holders included!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i="1" lang="de" sz="1200">
                <a:solidFill>
                  <a:schemeClr val="dk1"/>
                </a:solidFill>
              </a:rPr>
              <a:t>Strategus </a:t>
            </a:r>
            <a:r>
              <a:rPr lang="de" sz="1200">
                <a:solidFill>
                  <a:schemeClr val="dk1"/>
                </a:solidFill>
              </a:rPr>
              <a:t>orchestrates HADES modules across sites: one analysis specification, executed identically at every node (data does not leave the site, only the aggregated results).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86" name="Google Shape;486;p59"/>
          <p:cNvSpPr txBox="1"/>
          <p:nvPr/>
        </p:nvSpPr>
        <p:spPr>
          <a:xfrm>
            <a:off x="198050" y="4285700"/>
            <a:ext cx="85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chemeClr val="dk1"/>
                </a:solidFill>
              </a:rPr>
              <a:t>Results viewer:</a:t>
            </a:r>
            <a:r>
              <a:rPr lang="de" sz="1200">
                <a:solidFill>
                  <a:schemeClr val="dk1"/>
                </a:solidFill>
              </a:rPr>
              <a:t> Standardized Shiny apps are used for reviewing study results.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0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400">
                <a:solidFill>
                  <a:srgbClr val="000080"/>
                </a:solidFill>
                <a:latin typeface="Georgia"/>
                <a:ea typeface="Georgia"/>
                <a:cs typeface="Georgia"/>
                <a:sym typeface="Georgia"/>
              </a:rPr>
              <a:t>OHDSI Community | </a:t>
            </a:r>
            <a:r>
              <a:rPr b="0" lang="de" sz="2400">
                <a:solidFill>
                  <a:srgbClr val="000080"/>
                </a:solidFill>
                <a:latin typeface="Georgia"/>
                <a:ea typeface="Georgia"/>
                <a:cs typeface="Georgia"/>
                <a:sym typeface="Georgia"/>
              </a:rPr>
              <a:t>The Glue</a:t>
            </a:r>
            <a:endParaRPr b="1" sz="2400">
              <a:solidFill>
                <a:srgbClr val="00008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2" name="Google Shape;492;p60"/>
          <p:cNvSpPr txBox="1"/>
          <p:nvPr>
            <p:ph idx="1" type="body"/>
          </p:nvPr>
        </p:nvSpPr>
        <p:spPr>
          <a:xfrm>
            <a:off x="305525" y="1113250"/>
            <a:ext cx="8532000" cy="351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100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Join the Journey!</a:t>
            </a:r>
            <a:endParaRPr b="1" sz="1100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rgbClr val="000080"/>
              </a:buClr>
              <a:buSzPts val="1100"/>
              <a:buFont typeface="Arial"/>
              <a:buChar char="●"/>
            </a:pPr>
            <a:r>
              <a:rPr b="0" lang="de" sz="1100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Everyone is welcome to actively participate in OHDSI</a:t>
            </a:r>
            <a:r>
              <a:rPr lang="de" sz="1100">
                <a:solidFill>
                  <a:srgbClr val="000080"/>
                </a:solidFill>
              </a:rPr>
              <a:t> (must read: ‘</a:t>
            </a:r>
            <a:r>
              <a:rPr lang="de" sz="1100" u="sng">
                <a:solidFill>
                  <a:schemeClr val="hlink"/>
                </a:solidFill>
                <a:hlinkClick r:id="rId4"/>
              </a:rPr>
              <a:t>The Book of OHDSI’</a:t>
            </a:r>
            <a:r>
              <a:rPr lang="de" sz="1100">
                <a:solidFill>
                  <a:srgbClr val="000080"/>
                </a:solidFill>
              </a:rPr>
              <a:t>)</a:t>
            </a:r>
            <a:endParaRPr b="0" sz="1100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100"/>
              <a:buFont typeface="Arial"/>
              <a:buChar char="●"/>
            </a:pPr>
            <a:r>
              <a:rPr b="0" lang="de" sz="1100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Regional chapters provide local expertise and presence across geographical areas, such as the European chapters</a:t>
            </a:r>
            <a:endParaRPr b="0" sz="1100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de" sz="1100"/>
              <a:t>National Nodes:</a:t>
            </a:r>
            <a:endParaRPr b="1" sz="1100"/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rgbClr val="000080"/>
              </a:buClr>
              <a:buSzPts val="1100"/>
              <a:buChar char="●"/>
            </a:pPr>
            <a:r>
              <a:rPr b="0" lang="de" sz="1100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Strengthen national coordination and community building</a:t>
            </a:r>
            <a:r>
              <a:rPr lang="de" sz="1100">
                <a:solidFill>
                  <a:srgbClr val="000080"/>
                </a:solidFill>
              </a:rPr>
              <a:t> while s</a:t>
            </a:r>
            <a:r>
              <a:rPr b="0" lang="de" sz="1100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upport</a:t>
            </a:r>
            <a:r>
              <a:rPr lang="de" sz="1100">
                <a:solidFill>
                  <a:srgbClr val="000080"/>
                </a:solidFill>
              </a:rPr>
              <a:t>ing </a:t>
            </a:r>
            <a:r>
              <a:rPr b="0" lang="de" sz="1100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OMOP implementation and data holder onboarding</a:t>
            </a:r>
            <a:endParaRPr sz="1100">
              <a:solidFill>
                <a:srgbClr val="00008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100"/>
              <a:buChar char="●"/>
            </a:pPr>
            <a:r>
              <a:rPr b="0" lang="de" sz="1100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Promote participation in international studies</a:t>
            </a:r>
            <a:r>
              <a:rPr lang="de" sz="1100">
                <a:solidFill>
                  <a:srgbClr val="000080"/>
                </a:solidFill>
              </a:rPr>
              <a:t> and b</a:t>
            </a:r>
            <a:r>
              <a:rPr b="0" lang="de" sz="1100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ridg</a:t>
            </a:r>
            <a:r>
              <a:rPr lang="de" sz="1100">
                <a:solidFill>
                  <a:srgbClr val="000080"/>
                </a:solidFill>
              </a:rPr>
              <a:t>ing</a:t>
            </a:r>
            <a:r>
              <a:rPr b="0" lang="de" sz="1100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local practice with European Policy</a:t>
            </a:r>
            <a:endParaRPr b="0" sz="1100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100">
                <a:solidFill>
                  <a:schemeClr val="accent1"/>
                </a:solidFill>
              </a:rPr>
              <a:t>Nodes operate through open, community-driven principles.</a:t>
            </a:r>
            <a:endParaRPr b="1" sz="1100">
              <a:solidFill>
                <a:schemeClr val="accent1"/>
              </a:solidFill>
            </a:endParaRPr>
          </a:p>
        </p:txBody>
      </p:sp>
      <p:pic>
        <p:nvPicPr>
          <p:cNvPr id="493" name="Google Shape;493;p60" title="Screenshot 2026-06-25 at 10.54.2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241488"/>
            <a:ext cx="9144003" cy="1902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 need five images. one each with a differently colored lego block and one where they all in the same colors are put together" id="494" name="Google Shape;494;p60"/>
          <p:cNvPicPr preferRelativeResize="0"/>
          <p:nvPr/>
        </p:nvPicPr>
        <p:blipFill rotWithShape="1">
          <a:blip r:embed="rId6">
            <a:alphaModFix/>
          </a:blip>
          <a:srcRect b="24156" l="14084" r="11946" t="30050"/>
          <a:stretch/>
        </p:blipFill>
        <p:spPr>
          <a:xfrm>
            <a:off x="6967300" y="190713"/>
            <a:ext cx="1029825" cy="63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30663" y="2716723"/>
            <a:ext cx="481736" cy="4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1"/>
          <p:cNvSpPr/>
          <p:nvPr/>
        </p:nvSpPr>
        <p:spPr>
          <a:xfrm>
            <a:off x="740950" y="2912600"/>
            <a:ext cx="3575400" cy="1702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Join a working group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600"/>
              </a:spcAft>
              <a:buNone/>
            </a:pPr>
            <a:r>
              <a:rPr lang="de" sz="1100">
                <a:solidFill>
                  <a:schemeClr val="dk1"/>
                </a:solidFill>
              </a:rPr>
              <a:t>Open to all collaborators, over 30 active working groups, focus on strategic objectives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61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latin typeface="Georgia"/>
                <a:ea typeface="Georgia"/>
                <a:cs typeface="Georgia"/>
                <a:sym typeface="Georgia"/>
              </a:rPr>
              <a:t>OHDSI Community | </a:t>
            </a:r>
            <a:r>
              <a:rPr lang="de"/>
              <a:t>The Glue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61"/>
          <p:cNvSpPr/>
          <p:nvPr/>
        </p:nvSpPr>
        <p:spPr>
          <a:xfrm>
            <a:off x="740949" y="1090534"/>
            <a:ext cx="3575400" cy="1702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75"/>
              </a:spcBef>
              <a:spcAft>
                <a:spcPts val="1875"/>
              </a:spcAft>
              <a:buNone/>
            </a:pPr>
            <a:r>
              <a:rPr b="1" lang="d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Join an OHDSI forum</a:t>
            </a:r>
            <a:endParaRPr sz="1600"/>
          </a:p>
        </p:txBody>
      </p:sp>
      <p:sp>
        <p:nvSpPr>
          <p:cNvPr id="503" name="Google Shape;503;p61"/>
          <p:cNvSpPr/>
          <p:nvPr/>
        </p:nvSpPr>
        <p:spPr>
          <a:xfrm>
            <a:off x="494774" y="863150"/>
            <a:ext cx="909000" cy="890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4" name="Google Shape;504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871" y="1041412"/>
            <a:ext cx="592650" cy="5926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61"/>
          <p:cNvSpPr/>
          <p:nvPr/>
        </p:nvSpPr>
        <p:spPr>
          <a:xfrm>
            <a:off x="3719974" y="3919250"/>
            <a:ext cx="909000" cy="890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6" name="Google Shape;506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9051" y="3974460"/>
            <a:ext cx="750825" cy="750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61"/>
          <p:cNvSpPr/>
          <p:nvPr/>
        </p:nvSpPr>
        <p:spPr>
          <a:xfrm>
            <a:off x="4761206" y="2912602"/>
            <a:ext cx="3575400" cy="1702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Community Calls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600"/>
              </a:spcAft>
              <a:buNone/>
            </a:pPr>
            <a:r>
              <a:rPr lang="de" sz="1000">
                <a:solidFill>
                  <a:schemeClr val="dk1"/>
                </a:solidFill>
              </a:rPr>
              <a:t>Weekly calls (Global &amp; Europe)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8" name="Google Shape;508;p61"/>
          <p:cNvSpPr/>
          <p:nvPr/>
        </p:nvSpPr>
        <p:spPr>
          <a:xfrm>
            <a:off x="4761200" y="1090513"/>
            <a:ext cx="3575400" cy="1702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Summer Schools &amp; Workshops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600"/>
              </a:spcAft>
              <a:buNone/>
            </a:pPr>
            <a:r>
              <a:rPr lang="de" sz="1100">
                <a:solidFill>
                  <a:schemeClr val="dk1"/>
                </a:solidFill>
              </a:rPr>
              <a:t>Hands-on training globally, including annual symposia, EHDEN Academy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509" name="Google Shape;509;p61"/>
          <p:cNvSpPr/>
          <p:nvPr/>
        </p:nvSpPr>
        <p:spPr>
          <a:xfrm>
            <a:off x="4515031" y="828252"/>
            <a:ext cx="909000" cy="890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61"/>
          <p:cNvSpPr/>
          <p:nvPr/>
        </p:nvSpPr>
        <p:spPr>
          <a:xfrm>
            <a:off x="7740231" y="3884352"/>
            <a:ext cx="909000" cy="890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 need five images. one each with a differently colored lego block and one where they all in the same colors are put together" id="511" name="Google Shape;511;p61"/>
          <p:cNvPicPr preferRelativeResize="0"/>
          <p:nvPr/>
        </p:nvPicPr>
        <p:blipFill rotWithShape="1">
          <a:blip r:embed="rId6">
            <a:alphaModFix/>
          </a:blip>
          <a:srcRect b="24156" l="14084" r="11946" t="30050"/>
          <a:stretch/>
        </p:blipFill>
        <p:spPr>
          <a:xfrm>
            <a:off x="6967300" y="190713"/>
            <a:ext cx="1029825" cy="63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32649" y="3844611"/>
            <a:ext cx="750825" cy="75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18089" y="895189"/>
            <a:ext cx="805950" cy="80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2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OHDSI |</a:t>
            </a:r>
            <a:r>
              <a:rPr lang="de"/>
              <a:t> How it all comes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62"/>
          <p:cNvSpPr txBox="1"/>
          <p:nvPr>
            <p:ph idx="1" type="body"/>
          </p:nvPr>
        </p:nvSpPr>
        <p:spPr>
          <a:xfrm>
            <a:off x="305525" y="1113250"/>
            <a:ext cx="8532000" cy="35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400" u="sng"/>
              <a:t>EHDEN (European Health Data &amp; Evidence Network)</a:t>
            </a:r>
            <a:endParaRPr b="1" sz="1400" u="sng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" sz="1400"/>
              <a:t>Launched in 2018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" sz="1400"/>
              <a:t>Public-private partnership under the Innovative Medicines Initiative (IMI)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400"/>
              <a:t>→ Goal: </a:t>
            </a:r>
            <a:r>
              <a:rPr lang="de" sz="1400"/>
              <a:t>Building a large-scale federated data infrastructure that harmonizes RWD across Europe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400"/>
              <a:t>How does it work?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" sz="1400"/>
              <a:t>EHDEN recruited data partners who received funding and technical support to map their data to OMOP CDM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" sz="1400"/>
              <a:t>As of September 2024, EHDEN portal included 210 harmonized data sources from 30 countries and over 70 publications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400"/>
              <a:t>EHDEN Academy 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" sz="1400"/>
              <a:t>Over</a:t>
            </a:r>
            <a:r>
              <a:rPr lang="de" sz="1400"/>
              <a:t> 5,350 learners across &gt; 100 countries trained on OMOP, real-world evidence methods, federated research: </a:t>
            </a:r>
            <a:r>
              <a:rPr lang="de" sz="1400" u="sng">
                <a:solidFill>
                  <a:schemeClr val="hlink"/>
                </a:solidFill>
                <a:hlinkClick r:id="rId3"/>
              </a:rPr>
              <a:t>Free and open to the public!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move the lego branding also from the single bricks " id="520" name="Google Shape;520;p62"/>
          <p:cNvPicPr preferRelativeResize="0"/>
          <p:nvPr/>
        </p:nvPicPr>
        <p:blipFill rotWithShape="1">
          <a:blip r:embed="rId4">
            <a:alphaModFix/>
          </a:blip>
          <a:srcRect b="23086" l="15463" r="14283" t="20785"/>
          <a:stretch/>
        </p:blipFill>
        <p:spPr>
          <a:xfrm>
            <a:off x="6969300" y="104775"/>
            <a:ext cx="928650" cy="7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63" title="Screenshot 2026-06-23 at 17.07.18.png"/>
          <p:cNvPicPr preferRelativeResize="0"/>
          <p:nvPr/>
        </p:nvPicPr>
        <p:blipFill rotWithShape="1">
          <a:blip r:embed="rId3">
            <a:alphaModFix/>
          </a:blip>
          <a:srcRect b="0" l="9681" r="2469" t="4169"/>
          <a:stretch/>
        </p:blipFill>
        <p:spPr>
          <a:xfrm>
            <a:off x="714375" y="258775"/>
            <a:ext cx="7215674" cy="4365624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63"/>
          <p:cNvSpPr/>
          <p:nvPr/>
        </p:nvSpPr>
        <p:spPr>
          <a:xfrm>
            <a:off x="83350" y="41250"/>
            <a:ext cx="2923200" cy="1530300"/>
          </a:xfrm>
          <a:prstGeom prst="wave">
            <a:avLst>
              <a:gd fmla="val 10531" name="adj1"/>
              <a:gd fmla="val -305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chemeClr val="lt1"/>
                </a:solidFill>
              </a:rPr>
              <a:t>A new horizon in real-world clinical evidence and open science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27" name="Google Shape;527;p63"/>
          <p:cNvSpPr txBox="1"/>
          <p:nvPr/>
        </p:nvSpPr>
        <p:spPr>
          <a:xfrm>
            <a:off x="5341750" y="4688895"/>
            <a:ext cx="301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Figure from B</a:t>
            </a:r>
            <a:r>
              <a:rPr lang="de"/>
              <a:t>lacketer et al., 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4"/>
          <p:cNvSpPr/>
          <p:nvPr/>
        </p:nvSpPr>
        <p:spPr>
          <a:xfrm>
            <a:off x="-414800" y="3965760"/>
            <a:ext cx="9816900" cy="13251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64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OHDSI |</a:t>
            </a:r>
            <a:r>
              <a:rPr lang="de"/>
              <a:t> How it all comes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64"/>
          <p:cNvSpPr txBox="1"/>
          <p:nvPr>
            <p:ph idx="1" type="body"/>
          </p:nvPr>
        </p:nvSpPr>
        <p:spPr>
          <a:xfrm>
            <a:off x="305525" y="1149885"/>
            <a:ext cx="8532000" cy="35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64"/>
          <p:cNvSpPr txBox="1"/>
          <p:nvPr>
            <p:ph idx="1" type="body"/>
          </p:nvPr>
        </p:nvSpPr>
        <p:spPr>
          <a:xfrm>
            <a:off x="305525" y="1088827"/>
            <a:ext cx="8532000" cy="35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400" u="sng"/>
              <a:t>DARWIN EU</a:t>
            </a:r>
            <a:r>
              <a:rPr b="1" lang="de" sz="1400" u="sng">
                <a:highlight>
                  <a:schemeClr val="lt1"/>
                </a:highlight>
              </a:rPr>
              <a:t>® </a:t>
            </a:r>
            <a:r>
              <a:rPr b="1" lang="de" sz="1400" u="sng">
                <a:highlight>
                  <a:srgbClr val="FFFFFF"/>
                </a:highlight>
              </a:rPr>
              <a:t>(Data Analysis and Real World Interrogation Network) </a:t>
            </a:r>
            <a:endParaRPr b="1" sz="1400" u="sng"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" sz="1400">
                <a:highlight>
                  <a:srgbClr val="FFFFFF"/>
                </a:highlight>
              </a:rPr>
              <a:t>Established by the European Medicines Agency (EMA) &amp; the European Medicines Regulatory Network 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400">
                <a:highlight>
                  <a:srgbClr val="FFFFFF"/>
                </a:highlight>
              </a:rPr>
              <a:t>→ Goal:</a:t>
            </a:r>
            <a:r>
              <a:rPr lang="de" sz="1400">
                <a:highlight>
                  <a:srgbClr val="FFFFFF"/>
                </a:highlight>
              </a:rPr>
              <a:t> to deliver timely and reliable real-world evidence on the use, safety, and effectiveness of medicines from real world healthcare databases across the EU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400">
                <a:highlight>
                  <a:srgbClr val="FFFFFF"/>
                </a:highlight>
              </a:rPr>
              <a:t>What will DARWIN EU</a:t>
            </a:r>
            <a:r>
              <a:rPr b="1" lang="de" sz="1400">
                <a:highlight>
                  <a:schemeClr val="lt1"/>
                </a:highlight>
              </a:rPr>
              <a:t>® </a:t>
            </a:r>
            <a:r>
              <a:rPr b="1" lang="de" sz="1400">
                <a:highlight>
                  <a:srgbClr val="FFFFFF"/>
                </a:highlight>
              </a:rPr>
              <a:t>deliver? </a:t>
            </a:r>
            <a:endParaRPr b="1" sz="1400"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" sz="1400">
                <a:highlight>
                  <a:srgbClr val="FFFFFF"/>
                </a:highlight>
              </a:rPr>
              <a:t>Support of regulatory decision-making by providing a source of high-quality, validated real-world data on the use, safety and efficacy of medicines</a:t>
            </a:r>
            <a:endParaRPr sz="1400"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" sz="1400">
                <a:highlight>
                  <a:srgbClr val="FFFFFF"/>
                </a:highlight>
              </a:rPr>
              <a:t>Addressing</a:t>
            </a:r>
            <a:r>
              <a:rPr lang="de" sz="1400">
                <a:highlight>
                  <a:srgbClr val="FFFFFF"/>
                </a:highlight>
              </a:rPr>
              <a:t> specific questions by carrying out high-quality, non-interventional studies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74747"/>
              </a:solidFill>
              <a:highlight>
                <a:srgbClr val="FFFFFF"/>
              </a:highlight>
            </a:endParaRPr>
          </a:p>
        </p:txBody>
      </p:sp>
      <p:pic>
        <p:nvPicPr>
          <p:cNvPr descr="remove the lego branding also from the single bricks " id="536" name="Google Shape;536;p64"/>
          <p:cNvPicPr preferRelativeResize="0"/>
          <p:nvPr/>
        </p:nvPicPr>
        <p:blipFill rotWithShape="1">
          <a:blip r:embed="rId3">
            <a:alphaModFix/>
          </a:blip>
          <a:srcRect b="23086" l="15463" r="14283" t="20785"/>
          <a:stretch/>
        </p:blipFill>
        <p:spPr>
          <a:xfrm>
            <a:off x="6969300" y="104775"/>
            <a:ext cx="928650" cy="7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64"/>
          <p:cNvSpPr/>
          <p:nvPr/>
        </p:nvSpPr>
        <p:spPr>
          <a:xfrm>
            <a:off x="-95250" y="3501360"/>
            <a:ext cx="9298800" cy="4644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lt1"/>
                </a:solidFill>
              </a:rPr>
              <a:t>Key figures</a:t>
            </a:r>
            <a:r>
              <a:rPr b="1" lang="de" sz="2300">
                <a:solidFill>
                  <a:schemeClr val="lt1"/>
                </a:solidFill>
              </a:rPr>
              <a:t> 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538" name="Google Shape;538;p64"/>
          <p:cNvSpPr/>
          <p:nvPr/>
        </p:nvSpPr>
        <p:spPr>
          <a:xfrm>
            <a:off x="96625" y="4081310"/>
            <a:ext cx="2735400" cy="1007700"/>
          </a:xfrm>
          <a:prstGeom prst="flowChartAlternateProcess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lt1"/>
                </a:solidFill>
              </a:rPr>
              <a:t>263,223,000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539" name="Google Shape;539;p64"/>
          <p:cNvSpPr/>
          <p:nvPr/>
        </p:nvSpPr>
        <p:spPr>
          <a:xfrm>
            <a:off x="3200913" y="4081310"/>
            <a:ext cx="2735400" cy="1007700"/>
          </a:xfrm>
          <a:prstGeom prst="flowChartAlternateProcess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lt1"/>
                </a:solidFill>
              </a:rPr>
              <a:t>~ 110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64"/>
          <p:cNvSpPr/>
          <p:nvPr/>
        </p:nvSpPr>
        <p:spPr>
          <a:xfrm>
            <a:off x="6305200" y="4081310"/>
            <a:ext cx="2735400" cy="1007700"/>
          </a:xfrm>
          <a:prstGeom prst="flowChartAlternateProcess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chemeClr val="lt1"/>
                </a:solidFill>
              </a:rPr>
              <a:t>~ 40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5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OHDSI |</a:t>
            </a:r>
            <a:r>
              <a:rPr lang="de"/>
              <a:t> How it all comes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6" name="Google Shape;54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738" y="927960"/>
            <a:ext cx="6290524" cy="3827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move the lego branding also from the single bricks " id="547" name="Google Shape;547;p65"/>
          <p:cNvPicPr preferRelativeResize="0"/>
          <p:nvPr/>
        </p:nvPicPr>
        <p:blipFill rotWithShape="1">
          <a:blip r:embed="rId4">
            <a:alphaModFix/>
          </a:blip>
          <a:srcRect b="23086" l="15463" r="14283" t="20785"/>
          <a:stretch/>
        </p:blipFill>
        <p:spPr>
          <a:xfrm>
            <a:off x="6969300" y="104775"/>
            <a:ext cx="928650" cy="7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OHDSI |</a:t>
            </a:r>
            <a:r>
              <a:rPr lang="de"/>
              <a:t> How it all comes together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3" name="Google Shape;553;p66" title="Screenshot 2026-06-23 at 16.46.36.png"/>
          <p:cNvPicPr preferRelativeResize="0"/>
          <p:nvPr/>
        </p:nvPicPr>
        <p:blipFill rotWithShape="1">
          <a:blip r:embed="rId3">
            <a:alphaModFix/>
          </a:blip>
          <a:srcRect b="0" l="990" r="0" t="1225"/>
          <a:stretch/>
        </p:blipFill>
        <p:spPr>
          <a:xfrm>
            <a:off x="876500" y="837488"/>
            <a:ext cx="7127382" cy="3766626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66"/>
          <p:cNvSpPr/>
          <p:nvPr/>
        </p:nvSpPr>
        <p:spPr>
          <a:xfrm>
            <a:off x="753200" y="785250"/>
            <a:ext cx="923400" cy="81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move the lego branding also from the single bricks " id="555" name="Google Shape;555;p66"/>
          <p:cNvPicPr preferRelativeResize="0"/>
          <p:nvPr/>
        </p:nvPicPr>
        <p:blipFill rotWithShape="1">
          <a:blip r:embed="rId4">
            <a:alphaModFix/>
          </a:blip>
          <a:srcRect b="23086" l="15463" r="14283" t="20785"/>
          <a:stretch/>
        </p:blipFill>
        <p:spPr>
          <a:xfrm>
            <a:off x="6969300" y="104775"/>
            <a:ext cx="928650" cy="7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OHDSI |</a:t>
            </a:r>
            <a:r>
              <a:rPr lang="de"/>
              <a:t> How it all comes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67"/>
          <p:cNvSpPr txBox="1"/>
          <p:nvPr>
            <p:ph idx="1" type="body"/>
          </p:nvPr>
        </p:nvSpPr>
        <p:spPr>
          <a:xfrm>
            <a:off x="305525" y="1113250"/>
            <a:ext cx="8532000" cy="35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3"/>
              </a:rPr>
              <a:t>https://dash.ohdsi.org/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2" name="Google Shape;562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9762" y="1624400"/>
            <a:ext cx="6723526" cy="265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move the lego branding also from the single bricks " id="563" name="Google Shape;563;p67"/>
          <p:cNvPicPr preferRelativeResize="0"/>
          <p:nvPr/>
        </p:nvPicPr>
        <p:blipFill rotWithShape="1">
          <a:blip r:embed="rId5">
            <a:alphaModFix/>
          </a:blip>
          <a:srcRect b="23086" l="15463" r="14283" t="20785"/>
          <a:stretch/>
        </p:blipFill>
        <p:spPr>
          <a:xfrm>
            <a:off x="6969300" y="104775"/>
            <a:ext cx="928650" cy="7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8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Revisit</a:t>
            </a:r>
            <a:r>
              <a:rPr b="1" lang="de"/>
              <a:t> |</a:t>
            </a:r>
            <a:r>
              <a:rPr lang="de"/>
              <a:t> The Issue</a:t>
            </a:r>
            <a:endParaRPr b="1"/>
          </a:p>
        </p:txBody>
      </p:sp>
      <p:pic>
        <p:nvPicPr>
          <p:cNvPr id="569" name="Google Shape;56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394" y="16116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3815" y="16116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5671" y="16116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1960" y="16116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7526" y="16116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6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48249" y="16116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6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0105" y="1611675"/>
            <a:ext cx="10800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68"/>
          <p:cNvSpPr txBox="1"/>
          <p:nvPr/>
        </p:nvSpPr>
        <p:spPr>
          <a:xfrm>
            <a:off x="305525" y="2867425"/>
            <a:ext cx="8338800" cy="1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Yet little of it can be used for research that could improve patient outcomes and decision-making because data most often is…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de" sz="1600">
                <a:solidFill>
                  <a:schemeClr val="dk1"/>
                </a:solidFill>
              </a:rPr>
              <a:t>not harmonized</a:t>
            </a:r>
            <a:r>
              <a:rPr lang="de" sz="1600">
                <a:solidFill>
                  <a:schemeClr val="dk1"/>
                </a:solidFill>
              </a:rPr>
              <a:t>, 			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de" sz="1600">
                <a:solidFill>
                  <a:schemeClr val="dk1"/>
                </a:solidFill>
              </a:rPr>
              <a:t>stored in isolated systems, 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de" sz="1600">
                <a:solidFill>
                  <a:schemeClr val="dk1"/>
                </a:solidFill>
              </a:rPr>
              <a:t>hard to share. 			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77" name="Google Shape;577;p68"/>
          <p:cNvSpPr txBox="1"/>
          <p:nvPr/>
        </p:nvSpPr>
        <p:spPr>
          <a:xfrm>
            <a:off x="305525" y="1112850"/>
            <a:ext cx="853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Vast amounts of health data are generated every day.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78" name="Google Shape;578;p68"/>
          <p:cNvSpPr/>
          <p:nvPr/>
        </p:nvSpPr>
        <p:spPr>
          <a:xfrm>
            <a:off x="3518350" y="3515750"/>
            <a:ext cx="5319300" cy="912300"/>
          </a:xfrm>
          <a:prstGeom prst="rect">
            <a:avLst/>
          </a:prstGeom>
          <a:solidFill>
            <a:srgbClr val="F7BE7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→ OMOP CDM + OHDSI Standardized Vocabulary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chemeClr val="dk1"/>
                </a:solidFill>
              </a:rPr>
              <a:t>→ </a:t>
            </a:r>
            <a:r>
              <a:rPr lang="de" sz="1600">
                <a:solidFill>
                  <a:schemeClr val="dk1"/>
                </a:solidFill>
              </a:rPr>
              <a:t>OHDSI Networks like EHDEN and DARWIN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chemeClr val="dk1"/>
                </a:solidFill>
              </a:rPr>
              <a:t>→ </a:t>
            </a:r>
            <a:r>
              <a:rPr lang="de" sz="1600">
                <a:solidFill>
                  <a:schemeClr val="dk1"/>
                </a:solidFill>
              </a:rPr>
              <a:t>Data stays local, only aggregated results are shared</a:t>
            </a:r>
            <a:endParaRPr/>
          </a:p>
        </p:txBody>
      </p:sp>
      <p:pic>
        <p:nvPicPr>
          <p:cNvPr id="579" name="Google Shape;579;p6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03087" y="3215816"/>
            <a:ext cx="1268375" cy="3217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9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Interlude</a:t>
            </a:r>
            <a:r>
              <a:rPr b="1" lang="de"/>
              <a:t> |</a:t>
            </a:r>
            <a:r>
              <a:rPr lang="de"/>
              <a:t> Comparison with Other Data Standards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 </a:t>
            </a:r>
            <a:endParaRPr/>
          </a:p>
        </p:txBody>
      </p:sp>
      <p:sp>
        <p:nvSpPr>
          <p:cNvPr id="585" name="Google Shape;585;p69"/>
          <p:cNvSpPr txBox="1"/>
          <p:nvPr>
            <p:ph idx="1" type="body"/>
          </p:nvPr>
        </p:nvSpPr>
        <p:spPr>
          <a:xfrm>
            <a:off x="305825" y="1869187"/>
            <a:ext cx="2700600" cy="29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OMOP: </a:t>
            </a:r>
            <a:r>
              <a:rPr b="1" lang="de"/>
              <a:t>Secondary data analysis across sources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Optimized for large-scale, standardized observational research across sites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Due to the standardized vocabularies, data means the same thing everywhere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But: getting source data harmonized into OMOP is costly and effort-intensive</a:t>
            </a:r>
            <a:endParaRPr b="1"/>
          </a:p>
        </p:txBody>
      </p:sp>
      <p:sp>
        <p:nvSpPr>
          <p:cNvPr id="586" name="Google Shape;586;p69"/>
          <p:cNvSpPr txBox="1"/>
          <p:nvPr>
            <p:ph idx="2" type="body"/>
          </p:nvPr>
        </p:nvSpPr>
        <p:spPr>
          <a:xfrm>
            <a:off x="3221825" y="1869187"/>
            <a:ext cx="2700600" cy="29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FHIR: </a:t>
            </a:r>
            <a:r>
              <a:rPr b="1" lang="de"/>
              <a:t>D</a:t>
            </a:r>
            <a:r>
              <a:rPr b="1" lang="de"/>
              <a:t>ata exchange between systems 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Real-time, API-based data exchange across organizations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The dominant interoperability standard in Germany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But: doesn't inherently solve semantic harmonization</a:t>
            </a:r>
            <a:endParaRPr/>
          </a:p>
        </p:txBody>
      </p:sp>
      <p:sp>
        <p:nvSpPr>
          <p:cNvPr id="587" name="Google Shape;587;p69"/>
          <p:cNvSpPr txBox="1"/>
          <p:nvPr>
            <p:ph idx="3" type="body"/>
          </p:nvPr>
        </p:nvSpPr>
        <p:spPr>
          <a:xfrm>
            <a:off x="6137850" y="1869187"/>
            <a:ext cx="2700600" cy="29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openEHR: </a:t>
            </a:r>
            <a:r>
              <a:rPr b="1" lang="de"/>
              <a:t>Persistent</a:t>
            </a:r>
            <a:r>
              <a:rPr b="1" lang="de"/>
              <a:t> s</a:t>
            </a:r>
            <a:r>
              <a:rPr b="1" lang="de"/>
              <a:t>torage of the clinical record 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Semantically rich clinical documentation, retained over the full patient history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Archetypes: reusable, governed models that define clinical concepts in detail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"/>
              <a:t>But: not designed for cross-site harmonization or federated analytics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588" name="Google Shape;58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42" y="1249836"/>
            <a:ext cx="1997813" cy="50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1763" y="1249837"/>
            <a:ext cx="844583" cy="50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2269" y="1297262"/>
            <a:ext cx="2331756" cy="41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69"/>
          <p:cNvSpPr txBox="1"/>
          <p:nvPr/>
        </p:nvSpPr>
        <p:spPr>
          <a:xfrm>
            <a:off x="195125" y="4317875"/>
            <a:ext cx="8752800" cy="369300"/>
          </a:xfrm>
          <a:prstGeom prst="rect">
            <a:avLst/>
          </a:prstGeom>
          <a:solidFill>
            <a:srgbClr val="FFD2C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rgbClr val="000080"/>
                </a:solidFill>
              </a:rPr>
              <a:t>Takeaway</a:t>
            </a:r>
            <a:r>
              <a:rPr lang="de" sz="1200">
                <a:solidFill>
                  <a:srgbClr val="000080"/>
                </a:solidFill>
              </a:rPr>
              <a:t>: These data standards complement each other. They don't compete.</a:t>
            </a:r>
            <a:endParaRPr sz="1200">
              <a:solidFill>
                <a:srgbClr val="000080"/>
              </a:solidFill>
            </a:endParaRPr>
          </a:p>
        </p:txBody>
      </p:sp>
      <p:sp>
        <p:nvSpPr>
          <p:cNvPr id="592" name="Google Shape;592;p69"/>
          <p:cNvSpPr txBox="1"/>
          <p:nvPr/>
        </p:nvSpPr>
        <p:spPr>
          <a:xfrm>
            <a:off x="372165" y="848332"/>
            <a:ext cx="2448600" cy="36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rgbClr val="000080"/>
                </a:solidFill>
              </a:rPr>
              <a:t>Analysing data at scale </a:t>
            </a:r>
            <a:endParaRPr sz="1200">
              <a:solidFill>
                <a:srgbClr val="000080"/>
              </a:solidFill>
            </a:endParaRPr>
          </a:p>
        </p:txBody>
      </p:sp>
      <p:sp>
        <p:nvSpPr>
          <p:cNvPr id="593" name="Google Shape;593;p69"/>
          <p:cNvSpPr txBox="1"/>
          <p:nvPr/>
        </p:nvSpPr>
        <p:spPr>
          <a:xfrm>
            <a:off x="3318007" y="848332"/>
            <a:ext cx="2448600" cy="36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rgbClr val="000080"/>
                </a:solidFill>
              </a:rPr>
              <a:t>Moving data between systems </a:t>
            </a:r>
            <a:endParaRPr sz="1200">
              <a:solidFill>
                <a:srgbClr val="000080"/>
              </a:solidFill>
            </a:endParaRPr>
          </a:p>
        </p:txBody>
      </p:sp>
      <p:sp>
        <p:nvSpPr>
          <p:cNvPr id="594" name="Google Shape;594;p69"/>
          <p:cNvSpPr txBox="1"/>
          <p:nvPr/>
        </p:nvSpPr>
        <p:spPr>
          <a:xfrm>
            <a:off x="6263850" y="848332"/>
            <a:ext cx="2448600" cy="36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rgbClr val="000080"/>
                </a:solidFill>
              </a:rPr>
              <a:t>Capturing data at source</a:t>
            </a:r>
            <a:endParaRPr sz="1200">
              <a:solidFill>
                <a:srgbClr val="000080"/>
              </a:solidFill>
            </a:endParaRPr>
          </a:p>
        </p:txBody>
      </p:sp>
      <p:sp>
        <p:nvSpPr>
          <p:cNvPr id="595" name="Google Shape;595;p69"/>
          <p:cNvSpPr/>
          <p:nvPr/>
        </p:nvSpPr>
        <p:spPr>
          <a:xfrm>
            <a:off x="144300" y="1826300"/>
            <a:ext cx="5892000" cy="2418300"/>
          </a:xfrm>
          <a:prstGeom prst="roundRect">
            <a:avLst>
              <a:gd fmla="val 16667" name="adj"/>
            </a:avLst>
          </a:prstGeom>
          <a:solidFill>
            <a:srgbClr val="D9DBEC"/>
          </a:solidFill>
          <a:ln cap="flat" cmpd="sng" w="9525">
            <a:solidFill>
              <a:srgbClr val="9D9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6" name="Google Shape;596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08003" y="3200325"/>
            <a:ext cx="2849222" cy="41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6000" y="2149775"/>
            <a:ext cx="3429156" cy="65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0"/>
          <p:cNvSpPr txBox="1"/>
          <p:nvPr>
            <p:ph type="title"/>
          </p:nvPr>
        </p:nvSpPr>
        <p:spPr>
          <a:xfrm>
            <a:off x="306003" y="1283496"/>
            <a:ext cx="7742100" cy="1188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Part 3: </a:t>
            </a:r>
            <a:r>
              <a:rPr lang="de"/>
              <a:t>Role of Data4Life in the OHDSI ecosystem</a:t>
            </a:r>
            <a:endParaRPr/>
          </a:p>
        </p:txBody>
      </p:sp>
      <p:sp>
        <p:nvSpPr>
          <p:cNvPr id="603" name="Google Shape;603;p70"/>
          <p:cNvSpPr txBox="1"/>
          <p:nvPr>
            <p:ph idx="12" type="sldNum"/>
          </p:nvPr>
        </p:nvSpPr>
        <p:spPr>
          <a:xfrm>
            <a:off x="8568475" y="4690965"/>
            <a:ext cx="270000" cy="25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1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de"/>
              <a:t>OHDSI Germany |</a:t>
            </a:r>
            <a:r>
              <a:rPr lang="de">
                <a:latin typeface="Georgia"/>
                <a:ea typeface="Georgia"/>
                <a:cs typeface="Georgia"/>
                <a:sym typeface="Georgia"/>
              </a:rPr>
              <a:t> Connecting the Data</a:t>
            </a:r>
            <a:endParaRPr/>
          </a:p>
        </p:txBody>
      </p:sp>
      <p:sp>
        <p:nvSpPr>
          <p:cNvPr id="609" name="Google Shape;609;p71"/>
          <p:cNvSpPr txBox="1"/>
          <p:nvPr>
            <p:ph idx="1" type="body"/>
          </p:nvPr>
        </p:nvSpPr>
        <p:spPr>
          <a:xfrm>
            <a:off x="305525" y="952500"/>
            <a:ext cx="4158600" cy="3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de" sz="1100"/>
              <a:t>OHDSI Germany Community Snapshot</a:t>
            </a:r>
            <a:endParaRPr b="1" sz="11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de" sz="1100">
                <a:solidFill>
                  <a:srgbClr val="123F69"/>
                </a:solidFill>
              </a:rPr>
              <a:t>~ </a:t>
            </a:r>
            <a:r>
              <a:rPr lang="de" sz="1100"/>
              <a:t>130</a:t>
            </a:r>
            <a:r>
              <a:rPr lang="de" sz="1100"/>
              <a:t> community members</a:t>
            </a:r>
            <a:endParaRPr sz="11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de" sz="1100">
                <a:solidFill>
                  <a:srgbClr val="123F69"/>
                </a:solidFill>
              </a:rPr>
              <a:t>~ </a:t>
            </a:r>
            <a:r>
              <a:rPr lang="de" sz="1100"/>
              <a:t>ca. 8 data partners</a:t>
            </a:r>
            <a:endParaRPr sz="11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de" sz="1100">
                <a:solidFill>
                  <a:srgbClr val="123F69"/>
                </a:solidFill>
              </a:rPr>
              <a:t>~ </a:t>
            </a:r>
            <a:r>
              <a:rPr lang="de" sz="1100"/>
              <a:t>monthly community calls (responsible for Europe Call on  September 10)</a:t>
            </a:r>
            <a:endParaRPr sz="11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de" sz="1100">
                <a:solidFill>
                  <a:srgbClr val="123F69"/>
                </a:solidFill>
              </a:rPr>
              <a:t>~ </a:t>
            </a:r>
            <a:r>
              <a:rPr lang="de" sz="1100"/>
              <a:t>Founded in Spring 2021 (one of the oldest European nodes)</a:t>
            </a:r>
            <a:endParaRPr sz="11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de" sz="1100"/>
              <a:t>Co-Leadership</a:t>
            </a:r>
            <a:endParaRPr b="1" sz="1100"/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 sz="1100"/>
              <a:t>Ben Illigens (D4L data4life gGmbH)</a:t>
            </a:r>
            <a:endParaRPr sz="1100"/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 sz="1100"/>
              <a:t>Ines Reinecke  (TU Dresden / Med. Univ. Lausitz)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 sz="1100"/>
              <a:t>Gennadi Rabinovitch </a:t>
            </a:r>
            <a:endParaRPr sz="1100"/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" sz="1100"/>
              <a:t>Mich</a:t>
            </a:r>
            <a:r>
              <a:rPr lang="de" sz="1100"/>
              <a:t>é</a:t>
            </a:r>
            <a:r>
              <a:rPr lang="de" sz="1100"/>
              <a:t>le Zoch (TU Dresden)</a:t>
            </a:r>
            <a:endParaRPr sz="1100"/>
          </a:p>
        </p:txBody>
      </p:sp>
      <p:pic>
        <p:nvPicPr>
          <p:cNvPr id="610" name="Google Shape;610;p71" title="IMG_2281.jpg"/>
          <p:cNvPicPr preferRelativeResize="0"/>
          <p:nvPr/>
        </p:nvPicPr>
        <p:blipFill rotWithShape="1">
          <a:blip r:embed="rId3">
            <a:alphaModFix/>
          </a:blip>
          <a:srcRect b="26392" l="4950" r="1478" t="8841"/>
          <a:stretch/>
        </p:blipFill>
        <p:spPr>
          <a:xfrm>
            <a:off x="305525" y="3436275"/>
            <a:ext cx="2575949" cy="1337299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71"/>
          <p:cNvSpPr txBox="1"/>
          <p:nvPr/>
        </p:nvSpPr>
        <p:spPr>
          <a:xfrm>
            <a:off x="4828950" y="839638"/>
            <a:ext cx="4008300" cy="3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100">
                <a:solidFill>
                  <a:schemeClr val="dk1"/>
                </a:solidFill>
              </a:rPr>
              <a:t>OHDSI Germany Mission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Help German institutions adopt OMOP CDM and join OHDSI network studies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Federated: queries run locally, only aggregate results shared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100">
                <a:solidFill>
                  <a:schemeClr val="dk1"/>
                </a:solidFill>
              </a:rPr>
              <a:t>OHDSI Germany Current state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MII: 38 university + 3 non-university DIZ = 41 total sites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NUM-DIZ: 22 sites committed to OMOP translation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</a:rPr>
              <a:t>But there is still more work to be done → Establishment of OHDSI Germany e.V. (formal association)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612" name="Google Shape;612;p71"/>
          <p:cNvCxnSpPr/>
          <p:nvPr/>
        </p:nvCxnSpPr>
        <p:spPr>
          <a:xfrm flipH="1">
            <a:off x="4419125" y="952499"/>
            <a:ext cx="11100" cy="377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13" name="Google Shape;613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6250" y="3208728"/>
            <a:ext cx="413768" cy="41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3109" y="227713"/>
            <a:ext cx="704405" cy="56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2"/>
          <p:cNvSpPr/>
          <p:nvPr/>
        </p:nvSpPr>
        <p:spPr>
          <a:xfrm>
            <a:off x="263450" y="2502850"/>
            <a:ext cx="8683975" cy="466125"/>
          </a:xfrm>
          <a:custGeom>
            <a:rect b="b" l="l" r="r" t="t"/>
            <a:pathLst>
              <a:path extrusionOk="0" h="18645" w="347359">
                <a:moveTo>
                  <a:pt x="0" y="18645"/>
                </a:moveTo>
                <a:lnTo>
                  <a:pt x="89171" y="0"/>
                </a:lnTo>
                <a:lnTo>
                  <a:pt x="168613" y="0"/>
                </a:lnTo>
                <a:lnTo>
                  <a:pt x="347359" y="18239"/>
                </a:lnTo>
                <a:close/>
              </a:path>
            </a:pathLst>
          </a:custGeom>
          <a:gradFill>
            <a:gsLst>
              <a:gs pos="0">
                <a:srgbClr val="E0F2F1"/>
              </a:gs>
              <a:gs pos="100000">
                <a:srgbClr val="B6D7A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0" name="Google Shape;620;p72"/>
          <p:cNvSpPr/>
          <p:nvPr/>
        </p:nvSpPr>
        <p:spPr>
          <a:xfrm>
            <a:off x="213700" y="2980525"/>
            <a:ext cx="8727900" cy="2163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72"/>
          <p:cNvSpPr txBox="1"/>
          <p:nvPr/>
        </p:nvSpPr>
        <p:spPr>
          <a:xfrm>
            <a:off x="300000" y="204622"/>
            <a:ext cx="8544000" cy="38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de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OHDSI: Our Strategic Trajectory</a:t>
            </a:r>
            <a:endParaRPr b="1" sz="2400">
              <a:solidFill>
                <a:srgbClr val="1A3C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72"/>
          <p:cNvSpPr txBox="1"/>
          <p:nvPr/>
        </p:nvSpPr>
        <p:spPr>
          <a:xfrm>
            <a:off x="300000" y="620000"/>
            <a:ext cx="8544000" cy="26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1300">
                <a:solidFill>
                  <a:srgbClr val="8896AB"/>
                </a:solidFill>
                <a:latin typeface="Arial"/>
                <a:ea typeface="Arial"/>
                <a:cs typeface="Arial"/>
                <a:sym typeface="Arial"/>
              </a:rPr>
              <a:t>From national co-lead to hosting the world's largest European RWE symposium</a:t>
            </a:r>
            <a:endParaRPr b="0" sz="1300">
              <a:solidFill>
                <a:srgbClr val="8896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72"/>
          <p:cNvSpPr/>
          <p:nvPr/>
        </p:nvSpPr>
        <p:spPr>
          <a:xfrm>
            <a:off x="299999" y="1047750"/>
            <a:ext cx="8544000" cy="38100"/>
          </a:xfrm>
          <a:prstGeom prst="roundRect">
            <a:avLst>
              <a:gd fmla="val 50000" name="adj"/>
            </a:avLst>
          </a:prstGeom>
          <a:solidFill>
            <a:srgbClr val="E5E7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72"/>
          <p:cNvSpPr/>
          <p:nvPr/>
        </p:nvSpPr>
        <p:spPr>
          <a:xfrm>
            <a:off x="785652" y="885825"/>
            <a:ext cx="857400" cy="324000"/>
          </a:xfrm>
          <a:prstGeom prst="roundRect">
            <a:avLst>
              <a:gd fmla="val 50000" name="adj"/>
            </a:avLst>
          </a:prstGeom>
          <a:solidFill>
            <a:srgbClr val="E05A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b="1"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72"/>
          <p:cNvSpPr/>
          <p:nvPr/>
        </p:nvSpPr>
        <p:spPr>
          <a:xfrm>
            <a:off x="300000" y="1333500"/>
            <a:ext cx="2000100" cy="1173000"/>
          </a:xfrm>
          <a:prstGeom prst="roundRect">
            <a:avLst>
              <a:gd fmla="val 5333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D4L becomes OHDSI Germany Co-Lead</a:t>
            </a:r>
            <a:endParaRPr b="1" sz="1300">
              <a:solidFill>
                <a:srgbClr val="991B1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de" sz="1000">
                <a:solidFill>
                  <a:srgbClr val="7F1D1D"/>
                </a:solidFill>
                <a:latin typeface="Arial"/>
                <a:ea typeface="Arial"/>
                <a:cs typeface="Arial"/>
                <a:sym typeface="Arial"/>
              </a:rPr>
              <a:t>With TU Dresden. National node.</a:t>
            </a:r>
            <a:endParaRPr b="0" sz="1000">
              <a:solidFill>
                <a:srgbClr val="7F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72"/>
          <p:cNvSpPr/>
          <p:nvPr/>
        </p:nvSpPr>
        <p:spPr>
          <a:xfrm>
            <a:off x="2966877" y="885825"/>
            <a:ext cx="857400" cy="324000"/>
          </a:xfrm>
          <a:prstGeom prst="roundRect">
            <a:avLst>
              <a:gd fmla="val 50000" name="adj"/>
            </a:avLst>
          </a:prstGeom>
          <a:solidFill>
            <a:srgbClr val="2A8C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1"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72"/>
          <p:cNvSpPr/>
          <p:nvPr/>
        </p:nvSpPr>
        <p:spPr>
          <a:xfrm>
            <a:off x="2481225" y="1333500"/>
            <a:ext cx="2000100" cy="1173000"/>
          </a:xfrm>
          <a:prstGeom prst="roundRect">
            <a:avLst>
              <a:gd fmla="val 5333" name="adj"/>
            </a:avLst>
          </a:prstGeom>
          <a:solidFill>
            <a:srgbClr val="E0F2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rPr>
              <a:t>OHDSI Germany e.V.</a:t>
            </a:r>
            <a:endParaRPr b="1" sz="1300">
              <a:solidFill>
                <a:srgbClr val="065F4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64E3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1000">
                <a:solidFill>
                  <a:srgbClr val="064E3B"/>
                </a:solidFill>
                <a:latin typeface="Arial"/>
                <a:ea typeface="Arial"/>
                <a:cs typeface="Arial"/>
                <a:sym typeface="Arial"/>
              </a:rPr>
              <a:t>Formal association. First network study.</a:t>
            </a:r>
            <a:endParaRPr b="0" sz="1000">
              <a:solidFill>
                <a:srgbClr val="064E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72"/>
          <p:cNvSpPr/>
          <p:nvPr/>
        </p:nvSpPr>
        <p:spPr>
          <a:xfrm>
            <a:off x="5148102" y="885825"/>
            <a:ext cx="857100" cy="324000"/>
          </a:xfrm>
          <a:prstGeom prst="roundRect">
            <a:avLst>
              <a:gd fmla="val 50000" name="adj"/>
            </a:avLst>
          </a:prstGeom>
          <a:solidFill>
            <a:srgbClr val="1A3C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2027</a:t>
            </a:r>
            <a:endParaRPr b="1"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72"/>
          <p:cNvSpPr/>
          <p:nvPr/>
        </p:nvSpPr>
        <p:spPr>
          <a:xfrm>
            <a:off x="4662450" y="1333500"/>
            <a:ext cx="2000100" cy="1173000"/>
          </a:xfrm>
          <a:prstGeom prst="roundRect">
            <a:avLst>
              <a:gd fmla="val 5333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OHDSI Summer School</a:t>
            </a:r>
            <a:endParaRPr b="1" sz="1300">
              <a:solidFill>
                <a:srgbClr val="1E40A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E3A8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10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Berlin/Potsdam. Hosted by D4L, co-led with partners.</a:t>
            </a:r>
            <a:endParaRPr b="0" sz="10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E3A8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E3A8A"/>
              </a:solidFill>
            </a:endParaRPr>
          </a:p>
        </p:txBody>
      </p:sp>
      <p:sp>
        <p:nvSpPr>
          <p:cNvPr id="630" name="Google Shape;630;p72"/>
          <p:cNvSpPr/>
          <p:nvPr/>
        </p:nvSpPr>
        <p:spPr>
          <a:xfrm>
            <a:off x="7329327" y="885825"/>
            <a:ext cx="857400" cy="324000"/>
          </a:xfrm>
          <a:prstGeom prst="roundRect">
            <a:avLst>
              <a:gd fmla="val 50000" name="adj"/>
            </a:avLst>
          </a:prstGeom>
          <a:solidFill>
            <a:srgbClr val="D496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2028</a:t>
            </a:r>
            <a:endParaRPr b="1"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72"/>
          <p:cNvSpPr/>
          <p:nvPr/>
        </p:nvSpPr>
        <p:spPr>
          <a:xfrm>
            <a:off x="6843675" y="1333500"/>
            <a:ext cx="2000100" cy="1173000"/>
          </a:xfrm>
          <a:prstGeom prst="roundRect">
            <a:avLst>
              <a:gd fmla="val 5333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OHDSI Europe Symposium</a:t>
            </a:r>
            <a:endParaRPr b="1" sz="1300">
              <a:solidFill>
                <a:srgbClr val="9240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de" sz="1000">
                <a:solidFill>
                  <a:srgbClr val="78350F"/>
                </a:solidFill>
                <a:latin typeface="Arial"/>
                <a:ea typeface="Arial"/>
                <a:cs typeface="Arial"/>
                <a:sym typeface="Arial"/>
              </a:rPr>
              <a:t>Berlin/Potsdam. Competitive pitch. EU-wide event. &gt;350 participants</a:t>
            </a:r>
            <a:endParaRPr b="0" sz="1000">
              <a:solidFill>
                <a:srgbClr val="78350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8350F"/>
              </a:solidFill>
            </a:endParaRPr>
          </a:p>
        </p:txBody>
      </p:sp>
      <p:sp>
        <p:nvSpPr>
          <p:cNvPr id="632" name="Google Shape;632;p72"/>
          <p:cNvSpPr txBox="1"/>
          <p:nvPr/>
        </p:nvSpPr>
        <p:spPr>
          <a:xfrm>
            <a:off x="300000" y="3048000"/>
            <a:ext cx="8544000" cy="27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1A3C6E"/>
                </a:solidFill>
                <a:latin typeface="Arial"/>
                <a:ea typeface="Arial"/>
                <a:cs typeface="Arial"/>
                <a:sym typeface="Arial"/>
              </a:rPr>
              <a:t>Global OHDSI network activities 2026 and several OHDSI WG participations</a:t>
            </a:r>
            <a:endParaRPr b="1" sz="1600">
              <a:solidFill>
                <a:srgbClr val="1A3C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72"/>
          <p:cNvSpPr/>
          <p:nvPr/>
        </p:nvSpPr>
        <p:spPr>
          <a:xfrm>
            <a:off x="299999" y="3381375"/>
            <a:ext cx="2000100" cy="809700"/>
          </a:xfrm>
          <a:prstGeom prst="roundRect">
            <a:avLst>
              <a:gd fmla="val 9411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05A4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E05A4E"/>
                </a:solidFill>
                <a:latin typeface="Arial"/>
                <a:ea typeface="Arial"/>
                <a:cs typeface="Arial"/>
                <a:sym typeface="Arial"/>
              </a:rPr>
              <a:t>Seolhwa</a:t>
            </a:r>
            <a:endParaRPr b="1" sz="1000">
              <a:solidFill>
                <a:srgbClr val="E05A4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Oxford Summer School</a:t>
            </a:r>
            <a:endParaRPr b="0" sz="100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72"/>
          <p:cNvSpPr/>
          <p:nvPr/>
        </p:nvSpPr>
        <p:spPr>
          <a:xfrm>
            <a:off x="2481224" y="3381375"/>
            <a:ext cx="2000100" cy="809700"/>
          </a:xfrm>
          <a:prstGeom prst="roundRect">
            <a:avLst>
              <a:gd fmla="val 9411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2A8C9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2A8C91"/>
                </a:solidFill>
                <a:latin typeface="Arial"/>
                <a:ea typeface="Arial"/>
                <a:cs typeface="Arial"/>
                <a:sym typeface="Arial"/>
              </a:rPr>
              <a:t>Mario</a:t>
            </a:r>
            <a:endParaRPr b="1" sz="1000">
              <a:solidFill>
                <a:srgbClr val="2A8C9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Sweden Summer School</a:t>
            </a:r>
            <a:endParaRPr b="0" sz="100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72"/>
          <p:cNvSpPr/>
          <p:nvPr/>
        </p:nvSpPr>
        <p:spPr>
          <a:xfrm>
            <a:off x="4662449" y="3381375"/>
            <a:ext cx="2000100" cy="809700"/>
          </a:xfrm>
          <a:prstGeom prst="roundRect">
            <a:avLst>
              <a:gd fmla="val 9411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A3C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1A3C6E"/>
                </a:solidFill>
                <a:latin typeface="Arial"/>
                <a:ea typeface="Arial"/>
                <a:cs typeface="Arial"/>
                <a:sym typeface="Arial"/>
              </a:rPr>
              <a:t>Martin</a:t>
            </a:r>
            <a:endParaRPr b="1" sz="1000">
              <a:solidFill>
                <a:srgbClr val="1A3C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Columbia Summer School</a:t>
            </a:r>
            <a:endParaRPr b="0" sz="100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72"/>
          <p:cNvSpPr/>
          <p:nvPr/>
        </p:nvSpPr>
        <p:spPr>
          <a:xfrm>
            <a:off x="6843674" y="3381375"/>
            <a:ext cx="2000100" cy="809700"/>
          </a:xfrm>
          <a:prstGeom prst="roundRect">
            <a:avLst>
              <a:gd fmla="val 9411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D496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D4963C"/>
                </a:solidFill>
                <a:latin typeface="Arial"/>
                <a:ea typeface="Arial"/>
                <a:cs typeface="Arial"/>
                <a:sym typeface="Arial"/>
              </a:rPr>
              <a:t>Tim, Peter, Karthik</a:t>
            </a:r>
            <a:endParaRPr b="1" sz="1000">
              <a:solidFill>
                <a:srgbClr val="D496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NUS Singapore Summer School</a:t>
            </a:r>
            <a:endParaRPr b="0" sz="100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72"/>
          <p:cNvSpPr/>
          <p:nvPr/>
        </p:nvSpPr>
        <p:spPr>
          <a:xfrm>
            <a:off x="299999" y="4238625"/>
            <a:ext cx="2000100" cy="809700"/>
          </a:xfrm>
          <a:prstGeom prst="roundRect">
            <a:avLst>
              <a:gd fmla="val 9411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2A8C91"/>
                </a:solidFill>
                <a:latin typeface="Arial"/>
                <a:ea typeface="Arial"/>
                <a:cs typeface="Arial"/>
                <a:sym typeface="Arial"/>
              </a:rPr>
              <a:t>OHDSI APAC - Tim</a:t>
            </a:r>
            <a:endParaRPr b="1" sz="1000">
              <a:solidFill>
                <a:srgbClr val="2A8C9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Korea + workgroup engagement</a:t>
            </a:r>
            <a:endParaRPr b="0" sz="100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72"/>
          <p:cNvSpPr/>
          <p:nvPr/>
        </p:nvSpPr>
        <p:spPr>
          <a:xfrm>
            <a:off x="2481224" y="4238625"/>
            <a:ext cx="2000100" cy="809700"/>
          </a:xfrm>
          <a:prstGeom prst="roundRect">
            <a:avLst>
              <a:gd fmla="val 9411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1A3C6E"/>
                </a:solidFill>
                <a:latin typeface="Arial"/>
                <a:ea typeface="Arial"/>
                <a:cs typeface="Arial"/>
                <a:sym typeface="Arial"/>
              </a:rPr>
              <a:t>AHDEN Australia - Tim and Ben</a:t>
            </a:r>
            <a:endParaRPr b="1" sz="1000">
              <a:solidFill>
                <a:srgbClr val="1A3C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Nicole Pratt OHDSI </a:t>
            </a:r>
            <a:r>
              <a:rPr lang="de" sz="1000">
                <a:solidFill>
                  <a:srgbClr val="4B5563"/>
                </a:solidFill>
              </a:rPr>
              <a:t>NT</a:t>
            </a:r>
            <a:r>
              <a:rPr b="0" lang="de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support</a:t>
            </a:r>
            <a:endParaRPr b="0" sz="100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72"/>
          <p:cNvSpPr/>
          <p:nvPr/>
        </p:nvSpPr>
        <p:spPr>
          <a:xfrm>
            <a:off x="4662449" y="4238625"/>
            <a:ext cx="2000100" cy="809700"/>
          </a:xfrm>
          <a:prstGeom prst="roundRect">
            <a:avLst>
              <a:gd fmla="val 9411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2E7D52"/>
                </a:solidFill>
                <a:latin typeface="Arial"/>
                <a:ea typeface="Arial"/>
                <a:cs typeface="Arial"/>
                <a:sym typeface="Arial"/>
              </a:rPr>
              <a:t>OHDSI Africa - Tim and Ben</a:t>
            </a:r>
            <a:endParaRPr b="1" sz="1000">
              <a:solidFill>
                <a:srgbClr val="2E7D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Cynthia Sung 2026 support</a:t>
            </a:r>
            <a:endParaRPr b="0" sz="100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72"/>
          <p:cNvSpPr/>
          <p:nvPr/>
        </p:nvSpPr>
        <p:spPr>
          <a:xfrm>
            <a:off x="6843674" y="4238625"/>
            <a:ext cx="2000100" cy="809700"/>
          </a:xfrm>
          <a:prstGeom prst="roundRect">
            <a:avLst>
              <a:gd fmla="val 9411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5C3D7A"/>
                </a:solidFill>
                <a:latin typeface="Arial"/>
                <a:ea typeface="Arial"/>
                <a:cs typeface="Arial"/>
                <a:sym typeface="Arial"/>
              </a:rPr>
              <a:t>OHDSI LatAm - Pablo</a:t>
            </a:r>
            <a:endParaRPr b="1" sz="1000">
              <a:solidFill>
                <a:srgbClr val="5C3D7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Pablo</a:t>
            </a:r>
            <a:r>
              <a:rPr lang="de" sz="1000">
                <a:solidFill>
                  <a:srgbClr val="4B5563"/>
                </a:solidFill>
              </a:rPr>
              <a:t> as lead and k</a:t>
            </a:r>
            <a:r>
              <a:rPr lang="de" sz="1000">
                <a:solidFill>
                  <a:srgbClr val="4B5563"/>
                </a:solidFill>
              </a:rPr>
              <a:t>ey support</a:t>
            </a:r>
            <a:endParaRPr b="0" sz="100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1" name="Google Shape;64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0429" y="-67722"/>
            <a:ext cx="2085340" cy="1173001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72"/>
          <p:cNvSpPr txBox="1"/>
          <p:nvPr/>
        </p:nvSpPr>
        <p:spPr>
          <a:xfrm>
            <a:off x="7202653" y="34359"/>
            <a:ext cx="32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1A73E7"/>
                </a:solidFill>
              </a:rPr>
              <a:t>O</a:t>
            </a:r>
            <a:endParaRPr b="1">
              <a:solidFill>
                <a:srgbClr val="1A73E7"/>
              </a:solidFill>
            </a:endParaRPr>
          </a:p>
        </p:txBody>
      </p:sp>
      <p:sp>
        <p:nvSpPr>
          <p:cNvPr id="643" name="Google Shape;643;p72"/>
          <p:cNvSpPr txBox="1"/>
          <p:nvPr/>
        </p:nvSpPr>
        <p:spPr>
          <a:xfrm>
            <a:off x="7411078" y="209064"/>
            <a:ext cx="32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9AF41"/>
                </a:solidFill>
              </a:rPr>
              <a:t>H</a:t>
            </a:r>
            <a:endParaRPr b="1">
              <a:solidFill>
                <a:srgbClr val="F9AF41"/>
              </a:solidFill>
            </a:endParaRPr>
          </a:p>
        </p:txBody>
      </p:sp>
      <p:sp>
        <p:nvSpPr>
          <p:cNvPr id="644" name="Google Shape;644;p72"/>
          <p:cNvSpPr txBox="1"/>
          <p:nvPr/>
        </p:nvSpPr>
        <p:spPr>
          <a:xfrm>
            <a:off x="7630728" y="23164"/>
            <a:ext cx="32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D</a:t>
            </a:r>
            <a:endParaRPr b="1"/>
          </a:p>
        </p:txBody>
      </p:sp>
      <p:sp>
        <p:nvSpPr>
          <p:cNvPr id="645" name="Google Shape;645;p72"/>
          <p:cNvSpPr txBox="1"/>
          <p:nvPr/>
        </p:nvSpPr>
        <p:spPr>
          <a:xfrm>
            <a:off x="7816756" y="209064"/>
            <a:ext cx="32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166534"/>
                </a:solidFill>
              </a:rPr>
              <a:t>S</a:t>
            </a:r>
            <a:endParaRPr b="1">
              <a:solidFill>
                <a:srgbClr val="166534"/>
              </a:solidFill>
            </a:endParaRPr>
          </a:p>
        </p:txBody>
      </p:sp>
      <p:sp>
        <p:nvSpPr>
          <p:cNvPr id="646" name="Google Shape;646;p72"/>
          <p:cNvSpPr txBox="1"/>
          <p:nvPr/>
        </p:nvSpPr>
        <p:spPr>
          <a:xfrm>
            <a:off x="8030781" y="23164"/>
            <a:ext cx="32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FF0000"/>
                </a:solidFill>
              </a:rPr>
              <a:t>I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47" name="Google Shape;647;p72"/>
          <p:cNvSpPr/>
          <p:nvPr/>
        </p:nvSpPr>
        <p:spPr>
          <a:xfrm>
            <a:off x="1509900" y="3381377"/>
            <a:ext cx="790200" cy="380100"/>
          </a:xfrm>
          <a:prstGeom prst="wave">
            <a:avLst>
              <a:gd fmla="val 12500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lt1"/>
                </a:solidFill>
              </a:rPr>
              <a:t>Done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48" name="Google Shape;648;p72"/>
          <p:cNvSpPr/>
          <p:nvPr/>
        </p:nvSpPr>
        <p:spPr>
          <a:xfrm>
            <a:off x="3691125" y="3338978"/>
            <a:ext cx="790200" cy="380100"/>
          </a:xfrm>
          <a:prstGeom prst="wave">
            <a:avLst>
              <a:gd fmla="val 12500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lt1"/>
                </a:solidFill>
              </a:rPr>
              <a:t>Done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49" name="Google Shape;649;p72"/>
          <p:cNvSpPr/>
          <p:nvPr/>
        </p:nvSpPr>
        <p:spPr>
          <a:xfrm>
            <a:off x="5872350" y="3338977"/>
            <a:ext cx="790200" cy="380100"/>
          </a:xfrm>
          <a:prstGeom prst="wave">
            <a:avLst>
              <a:gd fmla="val 12500" name="adj1"/>
              <a:gd fmla="val 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lt1"/>
                </a:solidFill>
              </a:rPr>
              <a:t>Done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3"/>
          <p:cNvSpPr txBox="1"/>
          <p:nvPr>
            <p:ph type="title"/>
          </p:nvPr>
        </p:nvSpPr>
        <p:spPr>
          <a:xfrm>
            <a:off x="305990" y="1113238"/>
            <a:ext cx="5831700" cy="1188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Part 4: Q&amp;A</a:t>
            </a:r>
            <a:endParaRPr/>
          </a:p>
        </p:txBody>
      </p:sp>
      <p:sp>
        <p:nvSpPr>
          <p:cNvPr id="655" name="Google Shape;655;p73"/>
          <p:cNvSpPr txBox="1"/>
          <p:nvPr>
            <p:ph idx="12" type="sldNum"/>
          </p:nvPr>
        </p:nvSpPr>
        <p:spPr>
          <a:xfrm>
            <a:off x="8568475" y="4690965"/>
            <a:ext cx="270000" cy="257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4"/>
          <p:cNvSpPr txBox="1"/>
          <p:nvPr>
            <p:ph type="title"/>
          </p:nvPr>
        </p:nvSpPr>
        <p:spPr>
          <a:xfrm>
            <a:off x="305525" y="303525"/>
            <a:ext cx="8532000" cy="308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300">
                <a:latin typeface="Arial"/>
                <a:ea typeface="Arial"/>
                <a:cs typeface="Arial"/>
                <a:sym typeface="Arial"/>
              </a:rPr>
              <a:t>What terms &amp; concepts were the most interesting to you?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74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The End | Check-in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5"/>
          <p:cNvSpPr txBox="1"/>
          <p:nvPr>
            <p:ph type="title"/>
          </p:nvPr>
        </p:nvSpPr>
        <p:spPr>
          <a:xfrm>
            <a:off x="305525" y="303525"/>
            <a:ext cx="8532000" cy="308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latin typeface="Arial"/>
                <a:ea typeface="Arial"/>
                <a:cs typeface="Arial"/>
                <a:sym typeface="Arial"/>
              </a:rPr>
              <a:t>Where do you see yourself becoming more active in the OHDSI community</a:t>
            </a:r>
            <a:r>
              <a:rPr b="1" lang="de" sz="2300">
                <a:latin typeface="Arial"/>
                <a:ea typeface="Arial"/>
                <a:cs typeface="Arial"/>
                <a:sym typeface="Arial"/>
              </a:rPr>
              <a:t>?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75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The End | Check-in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6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The End | Q&amp;A</a:t>
            </a:r>
            <a:endParaRPr/>
          </a:p>
        </p:txBody>
      </p:sp>
      <p:pic>
        <p:nvPicPr>
          <p:cNvPr descr="a man in a suit says there will be no questions (Provided by Tenor)" id="673" name="Google Shape;67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175" y="1062187"/>
            <a:ext cx="5369750" cy="30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78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OMOP Vocabulary |</a:t>
            </a:r>
            <a:r>
              <a:rPr lang="de"/>
              <a:t> The Semantics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 need five images. one each with a differently colored lego block and one where they all in the same colors are put together" id="683" name="Google Shape;683;p78"/>
          <p:cNvPicPr preferRelativeResize="0"/>
          <p:nvPr/>
        </p:nvPicPr>
        <p:blipFill rotWithShape="1">
          <a:blip r:embed="rId3">
            <a:alphaModFix/>
          </a:blip>
          <a:srcRect b="25883" l="11100" r="13999" t="26166"/>
          <a:stretch/>
        </p:blipFill>
        <p:spPr>
          <a:xfrm>
            <a:off x="6137275" y="139275"/>
            <a:ext cx="1563226" cy="1000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78" title="Screenshot 2026-06-23 at 17.08.45.png"/>
          <p:cNvPicPr preferRelativeResize="0"/>
          <p:nvPr/>
        </p:nvPicPr>
        <p:blipFill rotWithShape="1">
          <a:blip r:embed="rId4">
            <a:alphaModFix/>
          </a:blip>
          <a:srcRect b="0" l="0" r="0" t="39405"/>
          <a:stretch/>
        </p:blipFill>
        <p:spPr>
          <a:xfrm>
            <a:off x="243700" y="1140025"/>
            <a:ext cx="5244550" cy="261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78" title="Screenshot 2026-06-23 at 17.08.45.png"/>
          <p:cNvPicPr preferRelativeResize="0"/>
          <p:nvPr/>
        </p:nvPicPr>
        <p:blipFill rotWithShape="1">
          <a:blip r:embed="rId4">
            <a:alphaModFix/>
          </a:blip>
          <a:srcRect b="62352" l="0" r="6838" t="0"/>
          <a:stretch/>
        </p:blipFill>
        <p:spPr>
          <a:xfrm>
            <a:off x="3951725" y="2798425"/>
            <a:ext cx="4885799" cy="16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79"/>
          <p:cNvSpPr txBox="1"/>
          <p:nvPr>
            <p:ph type="title"/>
          </p:nvPr>
        </p:nvSpPr>
        <p:spPr>
          <a:xfrm>
            <a:off x="305525" y="303525"/>
            <a:ext cx="8532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OHDSI |</a:t>
            </a:r>
            <a:r>
              <a:rPr lang="de"/>
              <a:t> How it all comes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79"/>
          <p:cNvSpPr txBox="1"/>
          <p:nvPr>
            <p:ph idx="1" type="body"/>
          </p:nvPr>
        </p:nvSpPr>
        <p:spPr>
          <a:xfrm>
            <a:off x="305525" y="1113250"/>
            <a:ext cx="8532000" cy="35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79"/>
          <p:cNvSpPr txBox="1"/>
          <p:nvPr>
            <p:ph idx="1" type="body"/>
          </p:nvPr>
        </p:nvSpPr>
        <p:spPr>
          <a:xfrm>
            <a:off x="305525" y="1113250"/>
            <a:ext cx="8532000" cy="35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DARWIN EU</a:t>
            </a:r>
            <a:r>
              <a:rPr b="1" lang="de" sz="1050">
                <a:solidFill>
                  <a:srgbClr val="474747"/>
                </a:solidFill>
                <a:highlight>
                  <a:srgbClr val="FFFFFF"/>
                </a:highlight>
              </a:rPr>
              <a:t>®</a:t>
            </a:r>
            <a:r>
              <a:rPr lang="de" sz="1050">
                <a:solidFill>
                  <a:srgbClr val="474747"/>
                </a:solidFill>
                <a:highlight>
                  <a:srgbClr val="FFFFFF"/>
                </a:highlight>
              </a:rPr>
              <a:t> (Data Analysis and Real World Interrogation Network) was established by the European Medicines Agency (EMA) and the European Medicines Regulatory Network to deliver timely and reliable real-world evidence </a:t>
            </a:r>
            <a:endParaRPr sz="10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74747"/>
                </a:solidFill>
                <a:highlight>
                  <a:srgbClr val="FFFFFF"/>
                </a:highlight>
              </a:rPr>
              <a:t>How does it work? </a:t>
            </a:r>
            <a:endParaRPr sz="10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74747"/>
                </a:solidFill>
                <a:highlight>
                  <a:srgbClr val="FFFFFF"/>
                </a:highlight>
              </a:rPr>
              <a:t>DARWIN EU is a federated network, with access to data from around 250 million patients, and has assessed over 100 research topics, with 88 studies completed or ongoing</a:t>
            </a:r>
            <a:endParaRPr sz="10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74747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74747"/>
              </a:solidFill>
              <a:highlight>
                <a:srgbClr val="FFFFFF"/>
              </a:highlight>
            </a:endParaRPr>
          </a:p>
        </p:txBody>
      </p:sp>
      <p:pic>
        <p:nvPicPr>
          <p:cNvPr id="693" name="Google Shape;693;p79" title="Screenshot 2026-06-23 at 17.13.18.png"/>
          <p:cNvPicPr preferRelativeResize="0"/>
          <p:nvPr/>
        </p:nvPicPr>
        <p:blipFill rotWithShape="1">
          <a:blip r:embed="rId3">
            <a:alphaModFix/>
          </a:blip>
          <a:srcRect b="0" l="0" r="4453" t="9731"/>
          <a:stretch/>
        </p:blipFill>
        <p:spPr>
          <a:xfrm>
            <a:off x="-83350" y="168075"/>
            <a:ext cx="8989223" cy="4762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move the lego branding also from the single bricks " id="694" name="Google Shape;694;p79"/>
          <p:cNvPicPr preferRelativeResize="0"/>
          <p:nvPr/>
        </p:nvPicPr>
        <p:blipFill rotWithShape="1">
          <a:blip r:embed="rId4">
            <a:alphaModFix/>
          </a:blip>
          <a:srcRect b="23086" l="15463" r="14283" t="20785"/>
          <a:stretch/>
        </p:blipFill>
        <p:spPr>
          <a:xfrm>
            <a:off x="6969300" y="104775"/>
            <a:ext cx="928650" cy="7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4LIFE">
  <a:themeElements>
    <a:clrScheme name="DATA4LIFE">
      <a:dk1>
        <a:srgbClr val="000080"/>
      </a:dk1>
      <a:lt1>
        <a:srgbClr val="FFFFFF"/>
      </a:lt1>
      <a:dk2>
        <a:srgbClr val="D9D9D9"/>
      </a:dk2>
      <a:lt2>
        <a:srgbClr val="D9DBEC"/>
      </a:lt2>
      <a:accent1>
        <a:srgbClr val="FF5F5A"/>
      </a:accent1>
      <a:accent2>
        <a:srgbClr val="E6DADA"/>
      </a:accent2>
      <a:accent3>
        <a:srgbClr val="FFD2C3"/>
      </a:accent3>
      <a:accent4>
        <a:srgbClr val="BDD4F0"/>
      </a:accent4>
      <a:accent5>
        <a:srgbClr val="FDA2A2"/>
      </a:accent5>
      <a:accent6>
        <a:srgbClr val="EBF2FB"/>
      </a:accent6>
      <a:hlink>
        <a:srgbClr val="FF5A5A"/>
      </a:hlink>
      <a:folHlink>
        <a:srgbClr val="FFC4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